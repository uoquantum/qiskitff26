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15"/>
  </p:notesMasterIdLst>
  <p:handoutMasterIdLst>
    <p:handoutMasterId r:id="rId16"/>
  </p:handoutMasterIdLst>
  <p:sldIdLst>
    <p:sldId id="620" r:id="rId2"/>
    <p:sldId id="635" r:id="rId3"/>
    <p:sldId id="637" r:id="rId4"/>
    <p:sldId id="636" r:id="rId5"/>
    <p:sldId id="638" r:id="rId6"/>
    <p:sldId id="623" r:id="rId7"/>
    <p:sldId id="640" r:id="rId8"/>
    <p:sldId id="642" r:id="rId9"/>
    <p:sldId id="421" r:id="rId10"/>
    <p:sldId id="641" r:id="rId11"/>
    <p:sldId id="643" r:id="rId12"/>
    <p:sldId id="425" r:id="rId13"/>
    <p:sldId id="644" r:id="rId14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Options" id="{161364A9-2106-084F-BFD9-DE7ABBB6242C}">
          <p14:sldIdLst>
            <p14:sldId id="620"/>
          </p14:sldIdLst>
        </p14:section>
        <p14:section name="Motivation and Background" id="{4700659D-582D-3B47-8AF6-59C9324AA29A}">
          <p14:sldIdLst>
            <p14:sldId id="635"/>
            <p14:sldId id="637"/>
            <p14:sldId id="636"/>
          </p14:sldIdLst>
        </p14:section>
        <p14:section name="The Main Tracks" id="{0F4585FA-3FC0-4382-A3DE-8A663472BA82}">
          <p14:sldIdLst>
            <p14:sldId id="638"/>
            <p14:sldId id="623"/>
            <p14:sldId id="640"/>
            <p14:sldId id="642"/>
          </p14:sldIdLst>
        </p14:section>
        <p14:section name="Learning Outcome" id="{13E731B0-7F94-4447-81A2-34CE5FA45810}">
          <p14:sldIdLst>
            <p14:sldId id="421"/>
          </p14:sldIdLst>
        </p14:section>
        <p14:section name="Grading and Resources" id="{991B4B5C-8EBD-4C56-BBD9-A55C8F6673D8}">
          <p14:sldIdLst>
            <p14:sldId id="641"/>
            <p14:sldId id="643"/>
            <p14:sldId id="425"/>
            <p14:sldId id="64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EB6"/>
    <a:srgbClr val="697077"/>
    <a:srgbClr val="BE95FF"/>
    <a:srgbClr val="21272A"/>
    <a:srgbClr val="121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81233" autoAdjust="0"/>
  </p:normalViewPr>
  <p:slideViewPr>
    <p:cSldViewPr snapToGrid="0" snapToObjects="1">
      <p:cViewPr varScale="1">
        <p:scale>
          <a:sx n="51" d="100"/>
          <a:sy n="51" d="100"/>
        </p:scale>
        <p:origin x="1384" y="20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Greetings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Thank you Serena</a:t>
            </a:r>
            <a:endParaRPr lang="en-CA" dirty="0"/>
          </a:p>
          <a:p>
            <a:pPr marL="171450" indent="-171450">
              <a:buFontTx/>
              <a:buChar char="-"/>
            </a:pPr>
            <a:r>
              <a:rPr lang="en-CA" dirty="0"/>
              <a:t>Hope everyone is well</a:t>
            </a:r>
          </a:p>
          <a:p>
            <a:pPr marL="171450" indent="-171450">
              <a:buFontTx/>
              <a:buChar char="-"/>
            </a:pPr>
            <a:r>
              <a:rPr lang="en-US" dirty="0"/>
              <a:t>Happy to present my prompt.</a:t>
            </a:r>
          </a:p>
          <a:p>
            <a:pPr marL="171450" indent="-171450">
              <a:buFontTx/>
              <a:buChar char="-"/>
            </a:pPr>
            <a:r>
              <a:rPr lang="en-US" dirty="0"/>
              <a:t>Briefly introduce myself: a </a:t>
            </a:r>
            <a:r>
              <a:rPr lang="en-US" dirty="0" err="1"/>
              <a:t>mcgill</a:t>
            </a:r>
            <a:r>
              <a:rPr lang="en-US" dirty="0"/>
              <a:t> student, got into quantum last year, been participating as an advocate and mentored this year’s QGSS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Theme: error correction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Clarifying: error correction is broad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motivation…(next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989128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1E2E6-97D6-589D-6CFD-E4BF71758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FA286-F6F6-23B1-A1C9-186FC6066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E7D16-0C21-3FB5-1BCD-7896DDB7F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Main focus: providing a fun project while creating educational values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I do a lot of teaching in my own club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do present ideas simply but not losing their original meanings</a:t>
            </a:r>
          </a:p>
          <a:p>
            <a:pPr marL="171450" indent="-171450">
              <a:buFontTx/>
              <a:buChar char="-"/>
            </a:pPr>
            <a:r>
              <a:rPr lang="en-US" dirty="0"/>
              <a:t>Engage the students and broaden the audience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Tanner graph of a [[144, 12, 12]] 144 physical qubits, 12 logical qubits, 12 code distance Bivariate Bicycle code.</a:t>
            </a:r>
          </a:p>
          <a:p>
            <a:pPr marL="0" indent="0">
              <a:buFontTx/>
              <a:buNone/>
            </a:pPr>
            <a:r>
              <a:rPr lang="en-US" dirty="0"/>
              <a:t>On the vertices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data qubits are the blue and orange circles.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have the stabilizers X and Z associated with the red and green squares</a:t>
            </a:r>
          </a:p>
          <a:p>
            <a:pPr marL="0" indent="0">
              <a:buFontTx/>
              <a:buNone/>
            </a:pPr>
            <a:r>
              <a:rPr lang="en-US" dirty="0"/>
              <a:t>On the edge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edges connect data qubits to check operators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Signifies a check acts non-trivially on that specific data qubit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 this bivariate bicycle code, each check operator interacts with physical qubits some distance away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I am a gamer myself. 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04C8A-3AB7-AB28-0FAC-D2CF17660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45149-FD42-34C4-4EA1-9613A197BF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251027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BF4B-A800-B0C5-928C-BE2E0DF73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753F1-EBBF-F480-15CC-42E14D9B9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031B1-6024-9C87-A5D9-67E9B8A48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 1994, Peter Shor’s algorithm came out and it was a big milestone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algorithm promised to run in polynomial time, more quickly than any known classical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Qubits however are delicate and prone to errors and decoherence</a:t>
            </a:r>
          </a:p>
          <a:p>
            <a:pPr marL="171450" indent="-171450">
              <a:buFontTx/>
              <a:buChar char="-"/>
            </a:pPr>
            <a:r>
              <a:rPr lang="en-US" dirty="0"/>
              <a:t>Shor came up with an idea of error correction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Shor code is a 9-qubit algorithm that is able to detect both bit flip and phase flip errors</a:t>
            </a:r>
          </a:p>
          <a:p>
            <a:pPr marL="637140" lvl="1" indent="-171450">
              <a:buFontTx/>
              <a:buChar char="-"/>
            </a:pPr>
            <a:r>
              <a:rPr lang="en-US" dirty="0"/>
              <a:t>Bit flip: 0 to 1; X gate</a:t>
            </a:r>
          </a:p>
          <a:p>
            <a:pPr marL="637140" lvl="1" indent="-171450">
              <a:buFontTx/>
              <a:buChar char="-"/>
            </a:pPr>
            <a:r>
              <a:rPr lang="en-US" dirty="0"/>
              <a:t>Phase flip: Z gate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These 9 physical qubits are said to encode one logical qubit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Afterwards more sophisticated classes were developed such as stabilizer codes</a:t>
            </a:r>
          </a:p>
          <a:p>
            <a:pPr marL="0" lvl="0" indent="0">
              <a:buFontTx/>
              <a:buNone/>
            </a:pPr>
            <a:r>
              <a:rPr lang="en-US" dirty="0"/>
              <a:t>-   Calderbank-Shor-Steane code refined the concept using fewer qubits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Topological codes by Alexei </a:t>
            </a:r>
            <a:r>
              <a:rPr lang="en-US" dirty="0" err="1"/>
              <a:t>Kitaev</a:t>
            </a: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qLDPC reduces physical qubit overhead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DD102-8A92-6E2A-562F-FBC4A1C37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022CF-7C71-C949-F221-A7A67E86A5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35197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B895F-4059-E73F-A06D-7288572B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C9CA6-8C4A-6B7F-E572-272F1010B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AFFDA-FA9E-E1E0-0783-8A61A2639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12F7A-2003-E52C-5602-CF10D59DB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A0D5D-282D-C69F-2121-E11F15EA79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944266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B37C4-2D2A-089F-284D-D97B27B1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5E7C0-96B2-525B-C8B4-3607092E9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126BFC5-850C-26AE-7594-1AE6281E552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FontTx/>
                  <a:buNone/>
                </a:pPr>
                <a:r>
                  <a:rPr lang="en-CA" dirty="0"/>
                  <a:t>Spacetime code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full QEC demands massive physical qubit overhead, while pure error mitigation (like PEC) suffers from exponential sampling costs as circuits deepen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Introduce spacetime error detection as an intermediate, low-overhead approach that focuses on mid-circuit error </a:t>
                </a:r>
                <a:r>
                  <a:rPr lang="en-CA" i="1" dirty="0"/>
                  <a:t>detection</a:t>
                </a:r>
                <a:r>
                  <a:rPr lang="en-CA" dirty="0"/>
                  <a:t> rather than full active recovery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Explain the syndrome readout: any fault within the check's causal cone flips the ancilla bit from </a:t>
                </a:r>
                <a14:m>
                  <m:oMath xmlns:m="http://schemas.openxmlformats.org/officeDocument/2006/math">
                    <m:r>
                      <a:rPr lang="en-CA" sz="1200" b="0" i="0" kern="12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en-CA" dirty="0"/>
                  <a:t>to </a:t>
                </a:r>
                <a14:m>
                  <m:oMath xmlns:m="http://schemas.openxmlformats.org/officeDocument/2006/math">
                    <m:r>
                      <a:rPr lang="en-CA" sz="1200" b="0" i="0" kern="12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CA" dirty="0"/>
                  <a:t>.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State the post-selection rule: retain clean runs where the full syndrome vector is zero, and discard corrupted runs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significantly higher output fidelity achieved with only a fraction of the hardware overhead required by full fault tolerance</a:t>
                </a:r>
              </a:p>
              <a:p>
                <a:pPr marL="171450" indent="-171450">
                  <a:buFontTx/>
                  <a:buChar char="-"/>
                </a:pPr>
                <a:endParaRPr lang="en-CA" dirty="0"/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CA" dirty="0"/>
                  <a:t>Where should players place spacetime checks to maximize error detection?</a:t>
                </a:r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CA" dirty="0"/>
                  <a:t>How do players avoid adding excess entangling gates that introduce more noise than they catch?</a:t>
                </a:r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CA" dirty="0"/>
                  <a:t>How do players balance final state fidelity against the fraction of discarded shots (survival rate)?</a:t>
                </a:r>
              </a:p>
              <a:p>
                <a:pPr marL="0" indent="0">
                  <a:buFontTx/>
                  <a:buNone/>
                </a:pPr>
                <a:endParaRPr lang="en-BR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126BFC5-850C-26AE-7594-1AE6281E552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FontTx/>
                  <a:buNone/>
                </a:pPr>
                <a:r>
                  <a:rPr lang="en-CA" dirty="0"/>
                  <a:t>Spacetime code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full QEC demands massive physical qubit overhead, while pure error mitigation (like PEC) suffers from exponential sampling costs as circuits deepen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Introduce spacetime error detection as an intermediate, low-overhead approach that focuses on mid-circuit error </a:t>
                </a:r>
                <a:r>
                  <a:rPr lang="en-CA" i="1" dirty="0"/>
                  <a:t>detection</a:t>
                </a:r>
                <a:r>
                  <a:rPr lang="en-CA" dirty="0"/>
                  <a:t> rather than full active recovery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Explain the syndrome readout: any fault within the check's causal cone flips the ancilla bit from </a:t>
                </a:r>
                <a:r>
                  <a:rPr lang="en-CA" sz="1200" b="0" i="0" kern="1200">
                    <a:solidFill>
                      <a:schemeClr val="bg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0</a:t>
                </a:r>
                <a:r>
                  <a:rPr lang="en-CA" dirty="0"/>
                  <a:t>to </a:t>
                </a:r>
                <a:r>
                  <a:rPr lang="en-CA" sz="1200" b="0" i="0" kern="1200">
                    <a:solidFill>
                      <a:schemeClr val="bg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1</a:t>
                </a:r>
                <a:r>
                  <a:rPr lang="en-CA" dirty="0"/>
                  <a:t>.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State the post-selection rule: retain clean runs where the full syndrome vector is zero, and discard corrupted runs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significantly higher output fidelity achieved with only a fraction of the hardware overhead required by full fault tolerance</a:t>
                </a:r>
              </a:p>
              <a:p>
                <a:pPr marL="171450" indent="-171450">
                  <a:buFontTx/>
                  <a:buChar char="-"/>
                </a:pPr>
                <a:endParaRPr lang="en-CA" dirty="0"/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CA" dirty="0"/>
                  <a:t>Where should players place spacetime checks to maximize error detection?</a:t>
                </a:r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CA" dirty="0"/>
                  <a:t>How do players avoid adding excess entangling gates that introduce more noise than they catch?</a:t>
                </a:r>
              </a:p>
              <a:p>
                <a:pPr marL="228600" lvl="0" indent="-228600">
                  <a:buFont typeface="+mj-lt"/>
                  <a:buAutoNum type="arabicPeriod"/>
                </a:pPr>
                <a:r>
                  <a:rPr lang="en-CA" dirty="0"/>
                  <a:t>How do players balance final state fidelity against the fraction of discarded shots (survival rate)?</a:t>
                </a:r>
              </a:p>
              <a:p>
                <a:pPr marL="0" indent="0">
                  <a:buFontTx/>
                  <a:buNone/>
                </a:pPr>
                <a:endParaRPr lang="en-BR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35225-E9D3-0FDD-7C57-BCA22F9D6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FFBF0-096E-AD8F-7B25-B1539157D2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155286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B86CB-7FC7-FB5F-BBF7-562A4AED4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BA3C0-A2B4-5CE5-7483-6C46C5D44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91E16-CE4F-16A5-7C5A-247D92E03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Mitigation is different</a:t>
            </a:r>
          </a:p>
          <a:p>
            <a:r>
              <a:rPr lang="en-US" dirty="0"/>
              <a:t>Goal is to obtain the best value</a:t>
            </a:r>
          </a:p>
          <a:p>
            <a:endParaRPr lang="en-US" dirty="0"/>
          </a:p>
          <a:p>
            <a:r>
              <a:rPr lang="en-US" dirty="0"/>
              <a:t>PNA</a:t>
            </a:r>
          </a:p>
          <a:p>
            <a:pPr marL="171450" indent="-171450">
              <a:buFontTx/>
              <a:buChar char="-"/>
            </a:pPr>
            <a:r>
              <a:rPr lang="en-US" dirty="0"/>
              <a:t>Entangling gates results in a substantial amount of noise, denoted gamma as noise channel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can mitigate the error by implementing an inverse (anti-noise)</a:t>
            </a:r>
          </a:p>
          <a:p>
            <a:pPr marL="171450" indent="-171450">
              <a:buFontTx/>
              <a:buChar char="-"/>
            </a:pPr>
            <a:r>
              <a:rPr lang="en-US" dirty="0"/>
              <a:t>PNA uses Pauli propagation to propagate the observable O through the inverse learned noise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results in a new observable that when measured against the noisy state, mitigates the learned noise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SLC</a:t>
            </a:r>
          </a:p>
          <a:p>
            <a:pPr marL="171450" indent="-171450">
              <a:buFontTx/>
              <a:buChar char="-"/>
            </a:pPr>
            <a:r>
              <a:rPr lang="en-US" dirty="0"/>
              <a:t>Similar to conventional binary </a:t>
            </a:r>
            <a:r>
              <a:rPr lang="en-US" dirty="0" err="1"/>
              <a:t>lightcones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Not mitigating errors outside the </a:t>
            </a:r>
            <a:r>
              <a:rPr lang="en-US" dirty="0" err="1"/>
              <a:t>lightcone</a:t>
            </a:r>
            <a:r>
              <a:rPr lang="en-US" dirty="0"/>
              <a:t> can reduce the variance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Lightcone</a:t>
            </a:r>
            <a:r>
              <a:rPr lang="en-US" dirty="0"/>
              <a:t> shading assigns scales to Pauli error generators within the causal </a:t>
            </a:r>
            <a:r>
              <a:rPr lang="en-US" dirty="0" err="1"/>
              <a:t>lightcone</a:t>
            </a:r>
            <a:r>
              <a:rPr lang="en-US" dirty="0"/>
              <a:t>, errors with smaller scales have less effect on the observable</a:t>
            </a:r>
          </a:p>
          <a:p>
            <a:pPr marL="171450" indent="-171450">
              <a:buFontTx/>
              <a:buChar char="-"/>
            </a:pPr>
            <a:r>
              <a:rPr lang="en-US" dirty="0"/>
              <a:t>Truncating them reduce variance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Noise learner</a:t>
            </a:r>
          </a:p>
          <a:p>
            <a:pPr marL="0" indent="0">
              <a:buFontTx/>
              <a:buNone/>
            </a:pPr>
            <a:r>
              <a:rPr lang="en-US" dirty="0"/>
              <a:t>- </a:t>
            </a:r>
            <a:r>
              <a:rPr lang="en-CA" dirty="0"/>
              <a:t>Noise Learner v3 is an automated diagnostic protocol that efficiently maps out multi-qubit Pauli error rates across 100+ qubit devices using parallelized, Clifford-twirled calibration circuits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It experiments that characterize noise processes based on Pauli-Lindblad noise model for circuits</a:t>
            </a:r>
          </a:p>
          <a:p>
            <a:pPr marL="171450" indent="-171450">
              <a:buFontTx/>
              <a:buChar char="-"/>
            </a:pPr>
            <a:r>
              <a:rPr lang="en-US" dirty="0"/>
              <a:t>You can then run the other software tools like PEC or ZNE with it</a:t>
            </a:r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5A17B-9944-842E-D66B-660A6C814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3A3F8-CDD0-9885-958D-B936C4ABCA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817153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6A1FF-7C51-AAC9-6716-2EF6D2C9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A1B22-C689-451C-8695-77947C1EE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E54CE70-48D5-43E3-91A1-C1A69369F98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FontTx/>
                  <a:buNone/>
                </a:pPr>
                <a:r>
                  <a:rPr lang="fr-CA" dirty="0"/>
                  <a:t>- Information of logical qubits mapped to physical qubits, usually displayed as a lattice array</a:t>
                </a:r>
              </a:p>
              <a:p>
                <a:pPr marL="0" indent="0">
                  <a:buFontTx/>
                  <a:buNone/>
                </a:pPr>
                <a:endParaRPr lang="fr-CA" dirty="0"/>
              </a:p>
              <a:p>
                <a:r>
                  <a:rPr lang="fr-CA" dirty="0"/>
                  <a:t>- </a:t>
                </a:r>
                <a:r>
                  <a:rPr lang="en-CA" dirty="0"/>
                  <a:t>Making the decoder to be more </a:t>
                </a:r>
                <a:r>
                  <a:rPr lang="en-CA" dirty="0" err="1"/>
                  <a:t>accu</a:t>
                </a:r>
                <a:r>
                  <a:rPr lang="en-CA" dirty="0"/>
                  <a:t>-</a:t>
                </a:r>
              </a:p>
              <a:p>
                <a:r>
                  <a:rPr lang="en-CA" dirty="0"/>
                  <a:t>rate usually comes with the drawback of increasing its</a:t>
                </a:r>
              </a:p>
              <a:p>
                <a:r>
                  <a:rPr lang="en-CA" dirty="0"/>
                  <a:t>computational complexity, which ultimately makes it</a:t>
                </a:r>
              </a:p>
              <a:p>
                <a:r>
                  <a:rPr lang="en-CA" dirty="0"/>
                  <a:t>to be slower in making guesses</a:t>
                </a:r>
              </a:p>
              <a:p>
                <a:endParaRPr lang="en-CA" dirty="0"/>
              </a:p>
              <a:p>
                <a:r>
                  <a:rPr lang="en-CA" dirty="0"/>
                  <a:t>-A minimum weight perfect</a:t>
                </a:r>
              </a:p>
              <a:p>
                <a:r>
                  <a:rPr lang="en-CA" dirty="0"/>
                  <a:t>matching is the perfect matching with the smallest</a:t>
                </a:r>
              </a:p>
              <a:p>
                <a:r>
                  <a:rPr lang="en-CA" dirty="0"/>
                  <a:t>possible weight among all possible perfect matchings</a:t>
                </a:r>
              </a:p>
              <a:p>
                <a:r>
                  <a:rPr lang="en-CA" dirty="0"/>
                  <a:t>where the weight of a matching is defined as</a:t>
                </a:r>
              </a:p>
              <a:p>
                <a:r>
                  <a:rPr lang="en-CA" dirty="0"/>
                  <a:t>the sum of the weights of its edges</a:t>
                </a:r>
              </a:p>
              <a:p>
                <a:r>
                  <a:rPr lang="en-CA" dirty="0"/>
                  <a:t>Minimum</a:t>
                </a:r>
              </a:p>
              <a:p>
                <a:r>
                  <a:rPr lang="en-CA" dirty="0"/>
                  <a:t>Weight Perfect Matching (MWPM) decoder makes</a:t>
                </a:r>
              </a:p>
              <a:p>
                <a:r>
                  <a:rPr lang="en-CA" dirty="0"/>
                  <a:t>use of these concepts from graph theory in order to develop an algorithm for decoding.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Checks adjacent to an odd num of errors turn into non-trivial syndrome elements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Even num of errors are not triggered, since products of two errors of the same type cancels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Consider X and Z-errors separately, the error can be seen as a chain of data qubits with non-trivial checks on their endpoints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(Image) X triggers green, Z triggers orange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(image) the red lines connecting non-trivial checks represent chains</a:t>
                </a:r>
              </a:p>
              <a:p>
                <a:pPr marL="0" indent="0">
                  <a:buFontTx/>
                  <a:buNone/>
                </a:pPr>
                <a:r>
                  <a:rPr lang="en-CA" dirty="0"/>
                  <a:t>The goal of Minimum-Weight Perfect Matching (MWPM) is to identify the most probable physical error configuration that explains observed syndrome defects without measuring the encoded quantum state directly</a:t>
                </a:r>
              </a:p>
              <a:p>
                <a:pPr marL="0" indent="0">
                  <a:buFontTx/>
                  <a:buNone/>
                </a:pPr>
                <a:r>
                  <a:rPr lang="en-CA" dirty="0"/>
                  <a:t>It achieves this by mapping syndrome locations to vertices on a complete decoding graph, assigning edges negative log-likelihood weights, and solving for the optimal vertex pairing using combinatorial optimization algorithms. The error is then recovered.</a:t>
                </a:r>
              </a:p>
              <a:p>
                <a:endParaRPr lang="en-CA" dirty="0"/>
              </a:p>
              <a:p>
                <a:r>
                  <a:rPr lang="en-CA" dirty="0"/>
                  <a:t>The union-find decoder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Introduced by Delfosse and Nickerson, the Union-Find decoder which also consists in mapping the syndrome into a graph problem.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It is based on clustering the non-trivial syndrome elements of the subgraphs by considering that Pauli errors at a known location can be treated as erasure errors.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The surface codes under the erasure channel can be efficiently decoded in linear time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Then it’s a matter of transforming the decoding problem of a surface code experiencing Pauli noise into an erasure error decoding problem. Into syndrome decoder validation and erasure decoder.</a:t>
                </a:r>
              </a:p>
              <a:p>
                <a:pPr lvl="0"/>
                <a:endParaRPr lang="en-CA" dirty="0"/>
              </a:p>
              <a:p>
                <a:pPr lvl="0"/>
                <a:r>
                  <a:rPr lang="en-CA" dirty="0"/>
                  <a:t>In the syndrome validation stage, the algorithm initializes clusters centered on each measured syndrome defect and uniformly expands their boundaries across the lattice [</a:t>
                </a:r>
                <a:r>
                  <a:rPr lang="en-CA" dirty="0" err="1"/>
                  <a:t>deMarti</a:t>
                </a:r>
                <a:r>
                  <a:rPr lang="en-CA" dirty="0"/>
                  <a:t> </a:t>
                </a:r>
                <a:r>
                  <a:rPr lang="en-CA" dirty="0" err="1"/>
                  <a:t>iOlius</a:t>
                </a:r>
                <a:r>
                  <a:rPr lang="en-CA" dirty="0"/>
                  <a:t> et al., 2024].</a:t>
                </a:r>
              </a:p>
              <a:p>
                <a:pPr lvl="0"/>
                <a:r>
                  <a:rPr lang="en-CA" dirty="0"/>
                  <a:t>When cluster boundaries intersect, they merge via the classical disjoint-set </a:t>
                </a:r>
                <a:r>
                  <a:rPr lang="en-CA" sz="1200" b="0" i="0" kern="1200" dirty="0">
                    <a:solidFill>
                      <a:schemeClr val="bg1"/>
                    </a:solidFill>
                    <a:latin typeface="IBM Plex Sans Light" panose="020B0503050203000203" pitchFamily="34" charset="0"/>
                    <a:ea typeface="+mn-ea"/>
                    <a:cs typeface="+mn-cs"/>
                  </a:rPr>
                  <a:t>Union</a:t>
                </a:r>
                <a:r>
                  <a:rPr lang="en-CA" dirty="0"/>
                  <a:t> operation until every connected component achieves even parity or terminates on an open code boundary [Delfosse &amp; Nickerson, 2021; </a:t>
                </a:r>
                <a:r>
                  <a:rPr lang="en-CA" dirty="0" err="1"/>
                  <a:t>deMarti</a:t>
                </a:r>
                <a:r>
                  <a:rPr lang="en-CA" dirty="0"/>
                  <a:t> </a:t>
                </a:r>
                <a:r>
                  <a:rPr lang="en-CA" dirty="0" err="1"/>
                  <a:t>iOlius</a:t>
                </a:r>
                <a:r>
                  <a:rPr lang="en-CA" dirty="0"/>
                  <a:t> et al., 2024].</a:t>
                </a:r>
              </a:p>
              <a:p>
                <a:pPr lvl="0"/>
                <a:r>
                  <a:rPr lang="en-CA" dirty="0"/>
                  <a:t>Once clusters are stabilized, an erasure decoder extracts a spanning forest across the grown regions and systematically peels leaf nodes to identify the correction operators [</a:t>
                </a:r>
                <a:r>
                  <a:rPr lang="en-CA" dirty="0" err="1"/>
                  <a:t>deMarti</a:t>
                </a:r>
                <a:r>
                  <a:rPr lang="en-CA" dirty="0"/>
                  <a:t> </a:t>
                </a:r>
                <a:r>
                  <a:rPr lang="en-CA" dirty="0" err="1"/>
                  <a:t>iOlius</a:t>
                </a:r>
                <a:r>
                  <a:rPr lang="en-CA" dirty="0"/>
                  <a:t> et al., 2024].</a:t>
                </a:r>
              </a:p>
              <a:p>
                <a:endParaRPr lang="en-US" dirty="0"/>
              </a:p>
              <a:p>
                <a:r>
                  <a:rPr lang="en-US" dirty="0"/>
                  <a:t>The tensor network decoder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Decoding methods aim to resolve the DQMLD problem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It also referred as the Maximum likelihood decoder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The decoder maps the 2D surface code lattice into a network of tensors where data qubits host error probability tensors and check nodes enforce syndrome conditions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(image) distance-3 planar code  into the tensor network that represents it. Stabilizer checks are the browns, and the data qubits are H, V (horizontal and vertical)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Instead of tracking a single error chain, contracting the network's shared indices sums the probabilities of </a:t>
                </a:r>
                <a:r>
                  <a:rPr lang="en-CA" i="1" dirty="0"/>
                  <a:t>all</a:t>
                </a:r>
                <a:r>
                  <a:rPr lang="en-CA" dirty="0"/>
                  <a:t> microscopic error paths that match the observed syndrome, yielding the total weight for each logical equivalence class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Evaluating these contractions across the four logical operators (</a:t>
                </a:r>
                <a14:m>
                  <m:oMath xmlns:m="http://schemas.openxmlformats.org/officeDocument/2006/math">
                    <m:r>
                      <a:rPr lang="en-CA" sz="1200" b="0" i="1" kern="12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  <m:r>
                      <a:rPr lang="en-CA" sz="1200" b="0" i="0" kern="1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en-CA" sz="1200" b="0" i="1" kern="1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  <m:r>
                      <a:rPr lang="en-CA" sz="1200" b="0" i="0" kern="1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en-CA" sz="1200" b="0" i="1" kern="1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  <m:r>
                      <a:rPr lang="en-CA" sz="1200" b="0" i="0" kern="1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en-CA" sz="1200" b="0" i="1" kern="1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𝑍</m:t>
                    </m:r>
                  </m:oMath>
                </a14:m>
                <a:r>
                  <a:rPr lang="en-CA" dirty="0"/>
                  <a:t>) identifies the most probable error class, allowing the system to apply the optimal Pauli correction to preserve the stored quantum state</a:t>
                </a:r>
              </a:p>
              <a:p>
                <a:pPr marL="0" indent="0">
                  <a:buFontTx/>
                  <a:buNone/>
                </a:pPr>
                <a:endParaRPr lang="en-CA" dirty="0"/>
              </a:p>
              <a:p>
                <a:pPr marL="171450" indent="-171450">
                  <a:buFontTx/>
                  <a:buChar char="-"/>
                </a:pPr>
                <a:endParaRPr lang="en-CA" dirty="0"/>
              </a:p>
              <a:p>
                <a:pPr marL="171450" indent="-171450">
                  <a:buFontTx/>
                  <a:buChar char="-"/>
                </a:pPr>
                <a:endParaRPr lang="en-BR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E54CE70-48D5-43E3-91A1-C1A69369F98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FontTx/>
                  <a:buNone/>
                </a:pPr>
                <a:r>
                  <a:rPr lang="fr-CA" dirty="0"/>
                  <a:t>- Information of logical qubits mapped to physical qubits, usually displayed as a lattice array</a:t>
                </a:r>
              </a:p>
              <a:p>
                <a:pPr marL="0" indent="0">
                  <a:buFontTx/>
                  <a:buNone/>
                </a:pPr>
                <a:endParaRPr lang="fr-CA" dirty="0"/>
              </a:p>
              <a:p>
                <a:r>
                  <a:rPr lang="fr-CA" dirty="0"/>
                  <a:t>- </a:t>
                </a:r>
                <a:r>
                  <a:rPr lang="en-CA" dirty="0"/>
                  <a:t>Making the decoder to be more </a:t>
                </a:r>
                <a:r>
                  <a:rPr lang="en-CA" dirty="0" err="1"/>
                  <a:t>accu</a:t>
                </a:r>
                <a:r>
                  <a:rPr lang="en-CA" dirty="0"/>
                  <a:t>-</a:t>
                </a:r>
              </a:p>
              <a:p>
                <a:r>
                  <a:rPr lang="en-CA" dirty="0"/>
                  <a:t>rate usually comes with the drawback of increasing its</a:t>
                </a:r>
              </a:p>
              <a:p>
                <a:r>
                  <a:rPr lang="en-CA" dirty="0"/>
                  <a:t>computational complexity, which ultimately makes it</a:t>
                </a:r>
              </a:p>
              <a:p>
                <a:r>
                  <a:rPr lang="en-CA" dirty="0"/>
                  <a:t>to be slower in making guesses</a:t>
                </a:r>
              </a:p>
              <a:p>
                <a:endParaRPr lang="en-CA" dirty="0"/>
              </a:p>
              <a:p>
                <a:r>
                  <a:rPr lang="en-CA" dirty="0"/>
                  <a:t>-A minimum weight perfect</a:t>
                </a:r>
              </a:p>
              <a:p>
                <a:r>
                  <a:rPr lang="en-CA" dirty="0"/>
                  <a:t>matching is the perfect matching with the smallest</a:t>
                </a:r>
              </a:p>
              <a:p>
                <a:r>
                  <a:rPr lang="en-CA" dirty="0"/>
                  <a:t>possible weight among all possible perfect matchings</a:t>
                </a:r>
              </a:p>
              <a:p>
                <a:r>
                  <a:rPr lang="en-CA" dirty="0"/>
                  <a:t>where the weight of a matching is defined as</a:t>
                </a:r>
              </a:p>
              <a:p>
                <a:r>
                  <a:rPr lang="en-CA" dirty="0"/>
                  <a:t>the sum of the weights of its edges</a:t>
                </a:r>
              </a:p>
              <a:p>
                <a:r>
                  <a:rPr lang="en-CA" dirty="0"/>
                  <a:t>Minimum</a:t>
                </a:r>
              </a:p>
              <a:p>
                <a:r>
                  <a:rPr lang="en-CA" dirty="0"/>
                  <a:t>Weight Perfect Matching (MWPM) decoder makes</a:t>
                </a:r>
              </a:p>
              <a:p>
                <a:r>
                  <a:rPr lang="en-CA" dirty="0"/>
                  <a:t>use of these concepts from graph theory in order to develop an algorithm for decoding.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Checks adjacent to an odd num of errors turn into non-trivial syndrome elements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Even num of errors are not triggered, since products of two errors of the same type cancels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Consider X and Z-errors separately, the error can be seen as a chain of data qubits with non-trivial checks on their endpoints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(Image) X triggers green, Z triggers orange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(image) the red lines connecting non-trivial checks represent chains</a:t>
                </a:r>
              </a:p>
              <a:p>
                <a:pPr marL="0" indent="0">
                  <a:buFontTx/>
                  <a:buNone/>
                </a:pPr>
                <a:r>
                  <a:rPr lang="en-CA" dirty="0"/>
                  <a:t>The goal of Minimum-Weight Perfect Matching (MWPM) is to identify the most probable physical error configuration that explains observed syndrome defects without measuring the encoded quantum state directly</a:t>
                </a:r>
              </a:p>
              <a:p>
                <a:pPr marL="0" indent="0">
                  <a:buFontTx/>
                  <a:buNone/>
                </a:pPr>
                <a:r>
                  <a:rPr lang="en-CA" dirty="0"/>
                  <a:t>It achieves this by mapping syndrome locations to vertices on a complete decoding graph, assigning edges negative log-likelihood weights, and solving for the optimal vertex pairing using combinatorial optimization algorithms. The error is then recovered.</a:t>
                </a:r>
              </a:p>
              <a:p>
                <a:endParaRPr lang="en-CA" dirty="0"/>
              </a:p>
              <a:p>
                <a:r>
                  <a:rPr lang="en-CA" dirty="0"/>
                  <a:t>The union-find decoder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Introduced by Delfosse and Nickerson, the Union-Find decoder which also consists in mapping the syndrome into a graph problem.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It is based on clustering the non-trivial syndrome elements of the subgraphs by considering that Pauli errors at a known location can be treated as erasure errors.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The surface codes under the erasure channel can be efficiently decoded in linear time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Then it’s a matter of transforming the decoding problem of a surface code experiencing Pauli noise into an erasure error decoding problem. Into syndrome decoder validation and erasure decoder.</a:t>
                </a:r>
              </a:p>
              <a:p>
                <a:pPr lvl="0"/>
                <a:endParaRPr lang="en-CA" dirty="0"/>
              </a:p>
              <a:p>
                <a:pPr lvl="0"/>
                <a:r>
                  <a:rPr lang="en-CA" dirty="0"/>
                  <a:t>In the syndrome validation stage, the algorithm initializes clusters centered on each measured syndrome defect and uniformly expands their boundaries across the lattice [</a:t>
                </a:r>
                <a:r>
                  <a:rPr lang="en-CA" dirty="0" err="1"/>
                  <a:t>deMarti</a:t>
                </a:r>
                <a:r>
                  <a:rPr lang="en-CA" dirty="0"/>
                  <a:t> </a:t>
                </a:r>
                <a:r>
                  <a:rPr lang="en-CA" dirty="0" err="1"/>
                  <a:t>iOlius</a:t>
                </a:r>
                <a:r>
                  <a:rPr lang="en-CA" dirty="0"/>
                  <a:t> et al., 2024].</a:t>
                </a:r>
              </a:p>
              <a:p>
                <a:pPr lvl="0"/>
                <a:r>
                  <a:rPr lang="en-CA" dirty="0"/>
                  <a:t>When cluster boundaries intersect, they merge via the classical disjoint-set </a:t>
                </a:r>
                <a:r>
                  <a:rPr lang="en-CA" sz="1200" b="0" i="0" kern="1200" dirty="0">
                    <a:solidFill>
                      <a:schemeClr val="bg1"/>
                    </a:solidFill>
                    <a:latin typeface="IBM Plex Sans Light" panose="020B0503050203000203" pitchFamily="34" charset="0"/>
                    <a:ea typeface="+mn-ea"/>
                    <a:cs typeface="+mn-cs"/>
                  </a:rPr>
                  <a:t>Union</a:t>
                </a:r>
                <a:r>
                  <a:rPr lang="en-CA" dirty="0"/>
                  <a:t> operation until every connected component achieves even parity or terminates on an open code boundary [Delfosse &amp; Nickerson, 2021; </a:t>
                </a:r>
                <a:r>
                  <a:rPr lang="en-CA" dirty="0" err="1"/>
                  <a:t>deMarti</a:t>
                </a:r>
                <a:r>
                  <a:rPr lang="en-CA" dirty="0"/>
                  <a:t> </a:t>
                </a:r>
                <a:r>
                  <a:rPr lang="en-CA" dirty="0" err="1"/>
                  <a:t>iOlius</a:t>
                </a:r>
                <a:r>
                  <a:rPr lang="en-CA" dirty="0"/>
                  <a:t> et al., 2024].</a:t>
                </a:r>
              </a:p>
              <a:p>
                <a:pPr lvl="0"/>
                <a:r>
                  <a:rPr lang="en-CA" dirty="0"/>
                  <a:t>Once clusters are stabilized, an erasure decoder extracts a spanning forest across the grown regions and systematically peels leaf nodes to identify the correction operators [</a:t>
                </a:r>
                <a:r>
                  <a:rPr lang="en-CA" dirty="0" err="1"/>
                  <a:t>deMarti</a:t>
                </a:r>
                <a:r>
                  <a:rPr lang="en-CA" dirty="0"/>
                  <a:t> </a:t>
                </a:r>
                <a:r>
                  <a:rPr lang="en-CA" dirty="0" err="1"/>
                  <a:t>iOlius</a:t>
                </a:r>
                <a:r>
                  <a:rPr lang="en-CA" dirty="0"/>
                  <a:t> et al., 2024].</a:t>
                </a:r>
              </a:p>
              <a:p>
                <a:endParaRPr lang="en-US" dirty="0"/>
              </a:p>
              <a:p>
                <a:r>
                  <a:rPr lang="en-US" dirty="0"/>
                  <a:t>The tensor network decoder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Decoding methods aim to resolve the DQMLD problem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It also referred as the Maximum likelihood decoder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The decoder maps the 2D surface code lattice into a network of tensors where data qubits host error probability tensors and check nodes enforce syndrome conditions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(image) distance-3 planar code  into the tensor network that represents it. Stabilizer checks are the browns, and the data qubits are H, V (horizontal and vertical)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Instead of tracking a single error chain, contracting the network's shared indices sums the probabilities of </a:t>
                </a:r>
                <a:r>
                  <a:rPr lang="en-CA" i="1" dirty="0"/>
                  <a:t>all</a:t>
                </a:r>
                <a:r>
                  <a:rPr lang="en-CA" dirty="0"/>
                  <a:t> microscopic error paths that match the observed syndrome, yielding the total weight for each logical equivalence class</a:t>
                </a:r>
              </a:p>
              <a:p>
                <a:pPr marL="171450" indent="-171450">
                  <a:buFontTx/>
                  <a:buChar char="-"/>
                </a:pPr>
                <a:r>
                  <a:rPr lang="en-CA" dirty="0"/>
                  <a:t>Evaluating these contractions across the four logical operators (</a:t>
                </a:r>
                <a:r>
                  <a:rPr lang="en-CA" sz="1200" b="0" i="0" kern="1200">
                    <a:solidFill>
                      <a:schemeClr val="bg1"/>
                    </a:solidFill>
                    <a:latin typeface="IBM Plex Sans Light" panose="020B0503050203000203" pitchFamily="34" charset="0"/>
                    <a:ea typeface="+mn-ea"/>
                    <a:cs typeface="+mn-cs"/>
                  </a:rPr>
                  <a:t>𝐼,𝑋,𝑌,𝑍</a:t>
                </a:r>
                <a:r>
                  <a:rPr lang="en-CA" dirty="0"/>
                  <a:t>) identifies the most probable error class, allowing the system to apply the optimal Pauli correction to preserve the stored quantum state</a:t>
                </a:r>
              </a:p>
              <a:p>
                <a:pPr marL="0" indent="0">
                  <a:buFontTx/>
                  <a:buNone/>
                </a:pPr>
                <a:endParaRPr lang="en-CA" dirty="0"/>
              </a:p>
              <a:p>
                <a:pPr marL="171450" indent="-171450">
                  <a:buFontTx/>
                  <a:buChar char="-"/>
                </a:pPr>
                <a:endParaRPr lang="en-CA" dirty="0"/>
              </a:p>
              <a:p>
                <a:pPr marL="171450" indent="-171450">
                  <a:buFontTx/>
                  <a:buChar char="-"/>
                </a:pPr>
                <a:endParaRPr lang="en-BR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7B861-9443-B16A-4D62-0A1232010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2D3E5-21E0-78B2-890F-D90076617B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57038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DC50D-9663-2FD6-6901-786E4123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2F0C7-8482-DCE1-9F3C-81DF00E4E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83268-C5D7-8866-CC06-667FBFF51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game is played on a board of tiles</a:t>
            </a:r>
          </a:p>
          <a:p>
            <a:pPr marL="171450" indent="-171450">
              <a:buFontTx/>
              <a:buChar char="-"/>
            </a:pPr>
            <a:r>
              <a:rPr lang="en-US" dirty="0"/>
              <a:t>each tile is a physical qubit</a:t>
            </a:r>
          </a:p>
          <a:p>
            <a:pPr marL="171450" indent="-171450">
              <a:buFontTx/>
              <a:buChar char="-"/>
            </a:pPr>
            <a:r>
              <a:rPr lang="en-US" dirty="0"/>
              <a:t>Each patch is a logical qubit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logical qubit can occupy one or multiple tiles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edges correspond to either X or Z </a:t>
            </a:r>
          </a:p>
          <a:p>
            <a:pPr marL="171450" indent="-171450">
              <a:buFontTx/>
              <a:buChar char="-"/>
            </a:pPr>
            <a:r>
              <a:rPr lang="en-US" dirty="0"/>
              <a:t>Each operation has an associated time cost</a:t>
            </a:r>
          </a:p>
          <a:p>
            <a:pPr marL="0" indent="0">
              <a:buFontTx/>
              <a:buNone/>
            </a:pPr>
            <a:r>
              <a:rPr lang="en-US" dirty="0"/>
              <a:t>Rules: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(a) If two patches share product, one can measure the product highlighted by the blue region -&gt; in this case we are measuring the product of ZZ</a:t>
            </a:r>
          </a:p>
          <a:p>
            <a:pPr marL="171450" indent="-171450">
              <a:buFontTx/>
              <a:buChar char="-"/>
            </a:pPr>
            <a:r>
              <a:rPr lang="en-US" dirty="0"/>
              <a:t>(d) So if there is Z and a X edge we can measure in the Y basis</a:t>
            </a:r>
          </a:p>
          <a:p>
            <a:pPr marL="0" indent="0">
              <a:buFontTx/>
              <a:buNone/>
            </a:pPr>
            <a:r>
              <a:rPr lang="en-US" dirty="0"/>
              <a:t>2. (e) we can measure products of Pauli operators on multiple qubits using auxiliary qubits</a:t>
            </a:r>
          </a:p>
          <a:p>
            <a:pPr marL="0" indent="0">
              <a:buFontTx/>
              <a:buNone/>
            </a:pPr>
            <a:r>
              <a:rPr lang="en-US" dirty="0"/>
              <a:t>And so on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This game is aimed to help you understand space-time trade-offs</a:t>
            </a:r>
          </a:p>
          <a:p>
            <a:pPr marL="0" indent="0">
              <a:buFontTx/>
              <a:buNone/>
            </a:pPr>
            <a:r>
              <a:rPr lang="en-US" dirty="0"/>
              <a:t>A higher qubit overhead allow for faster computations and vice versa</a:t>
            </a:r>
          </a:p>
          <a:p>
            <a:pPr marL="0" indent="0">
              <a:buFontTx/>
              <a:buNone/>
            </a:pPr>
            <a:r>
              <a:rPr lang="en-US" dirty="0"/>
              <a:t>A space-efficient design might allow a computation with 10^8 T gates to run in 4 hours using 55k physical qubits</a:t>
            </a:r>
          </a:p>
          <a:p>
            <a:pPr marL="0" indent="0">
              <a:buFontTx/>
              <a:buNone/>
            </a:pPr>
            <a:r>
              <a:rPr lang="en-US" dirty="0"/>
              <a:t>Important to mention that the surface code considered here implements Clifford + T circuits</a:t>
            </a:r>
          </a:p>
          <a:p>
            <a:pPr marL="0" indent="0">
              <a:buFontTx/>
              <a:buNone/>
            </a:pPr>
            <a:r>
              <a:rPr lang="en-US" dirty="0"/>
              <a:t>These circuits can be compiled to circuits that just perform </a:t>
            </a:r>
            <a:r>
              <a:rPr lang="en-US" dirty="0" err="1"/>
              <a:t>pauli</a:t>
            </a:r>
            <a:r>
              <a:rPr lang="en-US" dirty="0"/>
              <a:t> product measurements</a:t>
            </a:r>
          </a:p>
          <a:p>
            <a:pPr marL="0" indent="0">
              <a:buFontTx/>
              <a:buNone/>
            </a:pPr>
            <a:r>
              <a:rPr lang="en-US" dirty="0"/>
              <a:t>There are some discrepancies to actual surface code cycles, but it’s close enough to weigh out space-time trade-offs in architecture designs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ABAEC-930C-4242-89BB-0A11E7B63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07E6A-3211-DE69-509F-047C41C712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90225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bascis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en-US" dirty="0"/>
              <a:t>Understand how mitigation and correction are implemented differently in the system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Understand the most promising theories, the alternatives and the new upcoming</a:t>
            </a:r>
          </a:p>
          <a:p>
            <a:pPr marL="0" indent="0">
              <a:buFontTx/>
              <a:buNone/>
            </a:pPr>
            <a:endParaRPr lang="en-CA" dirty="0"/>
          </a:p>
          <a:p>
            <a:pPr marL="0" indent="0">
              <a:buFontTx/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627516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0A94-48FD-DDA4-2CD2-E12F7DC0E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750C6-BF44-3F48-7AFD-B551D6BC4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91ABB-52C4-48B7-25E6-757ACC6B8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83C74-0BCA-E05E-BFDB-89359711B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2303E-16EA-F0DC-7B56-4A5224697A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342012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877B0-FD74-930C-07FF-E0A3F5B7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3F72D-4123-966A-D775-31D47EF6B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6DF4E-A412-1D79-7F56-D60220F21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Greetings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Thank you Serena</a:t>
            </a:r>
            <a:endParaRPr lang="en-CA" dirty="0"/>
          </a:p>
          <a:p>
            <a:pPr marL="171450" indent="-171450">
              <a:buFontTx/>
              <a:buChar char="-"/>
            </a:pPr>
            <a:r>
              <a:rPr lang="en-CA" dirty="0"/>
              <a:t>Hope everyone is well</a:t>
            </a:r>
          </a:p>
          <a:p>
            <a:pPr marL="171450" indent="-171450">
              <a:buFontTx/>
              <a:buChar char="-"/>
            </a:pPr>
            <a:r>
              <a:rPr lang="en-US" dirty="0"/>
              <a:t>Happy to present my prompt.</a:t>
            </a:r>
          </a:p>
          <a:p>
            <a:pPr marL="171450" indent="-171450">
              <a:buFontTx/>
              <a:buChar char="-"/>
            </a:pPr>
            <a:r>
              <a:rPr lang="en-US" dirty="0"/>
              <a:t>Briefly introduce myself: a </a:t>
            </a:r>
            <a:r>
              <a:rPr lang="en-US" dirty="0" err="1"/>
              <a:t>mcgill</a:t>
            </a:r>
            <a:r>
              <a:rPr lang="en-US" dirty="0"/>
              <a:t> student, got into quantum last year, been participating as an advocate and mentored this year’s QGSS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Theme: error correction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Clarifying: error correction is broad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motivation…(next slide)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C4AC7-CD3F-83E5-2F32-B079D3CED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D3338-3DC2-84C3-172B-DF19D5AE57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812844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 dirty="0"/>
              <a:t>Qiskit Fall Fest 2025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Qiskit Fall Fest 2025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04" r:id="rId2"/>
    <p:sldLayoutId id="2147483905" r:id="rId3"/>
    <p:sldLayoutId id="2147483901" r:id="rId4"/>
    <p:sldLayoutId id="2147483692" r:id="rId5"/>
    <p:sldLayoutId id="2147483906" r:id="rId6"/>
    <p:sldLayoutId id="2147483907" r:id="rId7"/>
    <p:sldLayoutId id="2147483910" r:id="rId8"/>
    <p:sldLayoutId id="2147483908" r:id="rId9"/>
    <p:sldLayoutId id="2147483909" r:id="rId10"/>
    <p:sldLayoutId id="2147483912" r:id="rId11"/>
    <p:sldLayoutId id="2147483914" r:id="rId12"/>
    <p:sldLayoutId id="2147483915" r:id="rId13"/>
    <p:sldLayoutId id="2147483913" r:id="rId14"/>
    <p:sldLayoutId id="2147483917" r:id="rId15"/>
    <p:sldLayoutId id="2147483942" r:id="rId16"/>
    <p:sldLayoutId id="2147483919" r:id="rId17"/>
    <p:sldLayoutId id="2147483929" r:id="rId18"/>
    <p:sldLayoutId id="2147483920" r:id="rId19"/>
    <p:sldLayoutId id="2147483930" r:id="rId20"/>
    <p:sldLayoutId id="2147483928" r:id="rId21"/>
    <p:sldLayoutId id="2147483948" r:id="rId22"/>
    <p:sldLayoutId id="2147483927" r:id="rId23"/>
    <p:sldLayoutId id="2147483950" r:id="rId24"/>
    <p:sldLayoutId id="2147483921" r:id="rId25"/>
    <p:sldLayoutId id="2147483916" r:id="rId26"/>
    <p:sldLayoutId id="2147483922" r:id="rId27"/>
    <p:sldLayoutId id="2147483953" r:id="rId28"/>
    <p:sldLayoutId id="2147483956" r:id="rId29"/>
    <p:sldLayoutId id="2147483923" r:id="rId30"/>
    <p:sldLayoutId id="2147483924" r:id="rId31"/>
    <p:sldLayoutId id="2147483926" r:id="rId32"/>
    <p:sldLayoutId id="2147483925" r:id="rId33"/>
    <p:sldLayoutId id="2147483959" r:id="rId34"/>
    <p:sldLayoutId id="2147483937" r:id="rId35"/>
    <p:sldLayoutId id="2147483932" r:id="rId36"/>
    <p:sldLayoutId id="2147483934" r:id="rId37"/>
    <p:sldLayoutId id="2147483935" r:id="rId38"/>
    <p:sldLayoutId id="2147483936" r:id="rId39"/>
    <p:sldLayoutId id="2147483938" r:id="rId40"/>
    <p:sldLayoutId id="2147483939" r:id="rId41"/>
    <p:sldLayoutId id="2147483940" r:id="rId42"/>
    <p:sldLayoutId id="2147483943" r:id="rId43"/>
    <p:sldLayoutId id="2147483960" r:id="rId44"/>
    <p:sldLayoutId id="2147483941" r:id="rId45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hyperlink" Target="https://arxiv.org/pdf/2308.0791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quantum.cloud.ibm.com/learning/en/courses/foundations-of-quantum-error-correcti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www.ibm.com/quantum/blog/quantum-advantag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rrorcorrectionzoo.org/c/cpc" TargetMode="External"/><Relationship Id="rId5" Type="http://schemas.openxmlformats.org/officeDocument/2006/relationships/hyperlink" Target="https://quantum.cloud.ibm.com/docs/en/tutorials/spacetime-codes#background" TargetMode="External"/><Relationship Id="rId4" Type="http://schemas.openxmlformats.org/officeDocument/2006/relationships/hyperlink" Target="https://quantum.cloud.ibm.com/docs/en/addons/qiskit-addon-paulice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quantum.cloud.ibm.com/docs/en/guides/noise-learning" TargetMode="External"/><Relationship Id="rId5" Type="http://schemas.openxmlformats.org/officeDocument/2006/relationships/hyperlink" Target="https://github.com/qiskit/qiskit-addon-slc" TargetMode="External"/><Relationship Id="rId4" Type="http://schemas.openxmlformats.org/officeDocument/2006/relationships/hyperlink" Target="https://github.com/qiskit/qiskit-addon-pn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quantum-journal.org/papers/q-2024-10-10-1498/pdf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hyperlink" Target="https://pennylane.ai/demos/tutorial_game_of_surface_code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iskit-community/qgss-2025/blob/main/lab-4/lab4.ipynb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github.com/qiskit-community/qgss-2026/blob/main/lab-3/QGSS2026_Lab3.ipynb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quantum.cloud.ibm.com/docs/en/tutorials/spacetime-codes#learning-outcomes" TargetMode="External"/><Relationship Id="rId13" Type="http://schemas.openxmlformats.org/officeDocument/2006/relationships/hyperlink" Target="https://arxiv.org/abs/2408.13687" TargetMode="External"/><Relationship Id="rId18" Type="http://schemas.openxmlformats.org/officeDocument/2006/relationships/hyperlink" Target="https://arxiv.org/pdf/2607.25941" TargetMode="External"/><Relationship Id="rId3" Type="http://schemas.openxmlformats.org/officeDocument/2006/relationships/hyperlink" Target="https://quantum.cloud.ibm.com/learning/en/courses/foundations-of-quantum-error-correction" TargetMode="External"/><Relationship Id="rId7" Type="http://schemas.openxmlformats.org/officeDocument/2006/relationships/hyperlink" Target="https://pennylane.ai/demos/tutorial_lattice_surgery" TargetMode="External"/><Relationship Id="rId12" Type="http://schemas.openxmlformats.org/officeDocument/2006/relationships/hyperlink" Target="https://github.com/sneakyweasel/genetic-quantum-correction" TargetMode="External"/><Relationship Id="rId17" Type="http://schemas.openxmlformats.org/officeDocument/2006/relationships/hyperlink" Target="https://www.ibm.com/quantum/blog/quantum-advantage" TargetMode="External"/><Relationship Id="rId2" Type="http://schemas.openxmlformats.org/officeDocument/2006/relationships/image" Target="../media/image5.png"/><Relationship Id="rId16" Type="http://schemas.openxmlformats.org/officeDocument/2006/relationships/hyperlink" Target="http://quantum-journal.org/?s=Game%20of%20Surface%20Codes" TargetMode="External"/><Relationship Id="rId20" Type="http://schemas.openxmlformats.org/officeDocument/2006/relationships/hyperlink" Target="https://quantum-journal.org/papers/q-2024-10-10-1498/pdf/" TargetMode="External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www.ibm.com/quantum/blog/quantum-error-suppression-mitigation-correction" TargetMode="External"/><Relationship Id="rId11" Type="http://schemas.openxmlformats.org/officeDocument/2006/relationships/hyperlink" Target="https://arxiv.org/abs/2112.03708" TargetMode="External"/><Relationship Id="rId5" Type="http://schemas.openxmlformats.org/officeDocument/2006/relationships/hyperlink" Target="https://www.ibm.com/quantum/blog/what-is-ftqc" TargetMode="External"/><Relationship Id="rId15" Type="http://schemas.openxmlformats.org/officeDocument/2006/relationships/hyperlink" Target="arxiv.org/pdf/1908.00044" TargetMode="External"/><Relationship Id="rId10" Type="http://schemas.openxmlformats.org/officeDocument/2006/relationships/hyperlink" Target="https://quantum.cloud.ibm.com/docs/en/addons/qiskit-addon-paulice" TargetMode="External"/><Relationship Id="rId19" Type="http://schemas.openxmlformats.org/officeDocument/2006/relationships/hyperlink" Target="https://errorcorrectionzoo.org/c/color" TargetMode="External"/><Relationship Id="rId4" Type="http://schemas.openxmlformats.org/officeDocument/2006/relationships/hyperlink" Target="quantum.cloud.ibm.com/docs/en/guides/error-mitigation-and-suppression-techniques" TargetMode="External"/><Relationship Id="rId9" Type="http://schemas.openxmlformats.org/officeDocument/2006/relationships/hyperlink" Target="https://pennylane.ai/demos/tutorial_qldpc_codes" TargetMode="External"/><Relationship Id="rId14" Type="http://schemas.openxmlformats.org/officeDocument/2006/relationships/hyperlink" Target="https://arxiv.org/abs/2510.15223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68565-7F8C-02B2-C023-76DFC301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8D1FA-790B-BE98-6D1F-5A6EAB6BEB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697077"/>
                </a:solidFill>
                <a:latin typeface="IBM Plex Mono" panose="020B0509050203000203" pitchFamily="49" charset="77"/>
              </a:rPr>
              <a:t>Qiskit Fall Fest 202</a:t>
            </a:r>
            <a:r>
              <a:rPr lang="en-US" altLang="ko-KR" dirty="0">
                <a:solidFill>
                  <a:srgbClr val="697077"/>
                </a:solidFill>
                <a:latin typeface="IBM Plex Mono" panose="020B0509050203000203" pitchFamily="49" charset="77"/>
              </a:rPr>
              <a:t>6</a:t>
            </a:r>
            <a:endParaRPr lang="en-US" dirty="0">
              <a:solidFill>
                <a:srgbClr val="697077"/>
              </a:solidFill>
              <a:latin typeface="IBM Plex Mono" panose="020B0509050203000203" pitchFamily="49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7EB306-8B59-F739-1EC6-FA841CDA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6000" dirty="0"/>
              <a:t>QFF 2026 Hackathon: Gamifying Error Detection, Mitigation and Correction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3635637-1E5E-106A-A762-CEC4372BF058}"/>
              </a:ext>
            </a:extLst>
          </p:cNvPr>
          <p:cNvSpPr txBox="1">
            <a:spLocks/>
          </p:cNvSpPr>
          <p:nvPr/>
        </p:nvSpPr>
        <p:spPr>
          <a:xfrm>
            <a:off x="568325" y="6858000"/>
            <a:ext cx="5571218" cy="122251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effectLst/>
                <a:latin typeface="IBM Plex Sans Light" panose="020B0403050203000203" pitchFamily="34" charset="0"/>
              </a:rPr>
              <a:t>Wenyu Sun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r>
              <a:rPr lang="en-US" sz="2800" dirty="0">
                <a:effectLst/>
                <a:latin typeface="IBM Plex Sans Light" panose="020B0403050203000203" pitchFamily="34" charset="0"/>
              </a:rPr>
              <a:t>Third-year Undergraduate Physics</a:t>
            </a:r>
            <a:br>
              <a:rPr lang="en-US" sz="2800" dirty="0">
                <a:effectLst/>
                <a:latin typeface="+mj-lt"/>
              </a:rPr>
            </a:br>
            <a:r>
              <a:rPr lang="en-US" sz="2800" dirty="0">
                <a:effectLst/>
                <a:latin typeface="+mj-lt"/>
              </a:rPr>
              <a:t>McGill University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471F0B-D9E0-C64D-108B-A65871DB2028}"/>
              </a:ext>
            </a:extLst>
          </p:cNvPr>
          <p:cNvSpPr txBox="1"/>
          <p:nvPr/>
        </p:nvSpPr>
        <p:spPr>
          <a:xfrm>
            <a:off x="22983568" y="-321276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78913B-B5E9-C59B-A3BC-AD70A2C1C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3708" y="706779"/>
            <a:ext cx="9897395" cy="121408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09C3CE-733E-92EC-CCE7-E1B2BC03C7D3}"/>
              </a:ext>
            </a:extLst>
          </p:cNvPr>
          <p:cNvSpPr txBox="1"/>
          <p:nvPr/>
        </p:nvSpPr>
        <p:spPr>
          <a:xfrm>
            <a:off x="27679135" y="415187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C7E483-50DD-907F-FCB5-9BBB814B2C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73" y="12377660"/>
            <a:ext cx="2178162" cy="9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4566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B922C-C2AD-250D-ADD0-CAC044B3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7C1CCD-AD3A-5DAF-E1C1-8964234E4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544513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EF0284-1F93-BD5A-1FBB-0D973F99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6CB52-7C27-FF5E-789E-B5C3E3E31D8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/>
              <a:t>Qiskit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8A805-F23E-F05C-1846-61398374199C}"/>
              </a:ext>
            </a:extLst>
          </p:cNvPr>
          <p:cNvSpPr txBox="1"/>
          <p:nvPr/>
        </p:nvSpPr>
        <p:spPr>
          <a:xfrm>
            <a:off x="576072" y="2671948"/>
            <a:ext cx="12534285" cy="8645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B4864E-F2BA-BA29-5E0E-69B11AE547B7}"/>
              </a:ext>
            </a:extLst>
          </p:cNvPr>
          <p:cNvSpPr txBox="1"/>
          <p:nvPr/>
        </p:nvSpPr>
        <p:spPr>
          <a:xfrm>
            <a:off x="3063834" y="381197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73641-BFFF-C479-EE94-D199A4DA6E37}"/>
              </a:ext>
            </a:extLst>
          </p:cNvPr>
          <p:cNvSpPr txBox="1"/>
          <p:nvPr/>
        </p:nvSpPr>
        <p:spPr>
          <a:xfrm>
            <a:off x="5795158" y="701831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AC6D2-F3C3-5951-EE0C-3F29A088FE7E}"/>
              </a:ext>
            </a:extLst>
          </p:cNvPr>
          <p:cNvSpPr txBox="1"/>
          <p:nvPr/>
        </p:nvSpPr>
        <p:spPr>
          <a:xfrm>
            <a:off x="1654236" y="4893092"/>
            <a:ext cx="21078701" cy="4548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CA" b="1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8457D3-5351-B090-2035-366D0B03639C}"/>
              </a:ext>
            </a:extLst>
          </p:cNvPr>
          <p:cNvSpPr txBox="1"/>
          <p:nvPr/>
        </p:nvSpPr>
        <p:spPr>
          <a:xfrm>
            <a:off x="4987636" y="780208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71FA2A-69D1-CF2B-FED7-B819DC69A48B}"/>
              </a:ext>
            </a:extLst>
          </p:cNvPr>
          <p:cNvSpPr txBox="1"/>
          <p:nvPr/>
        </p:nvSpPr>
        <p:spPr>
          <a:xfrm>
            <a:off x="1971675" y="2957513"/>
            <a:ext cx="914400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A88F9E-C3FD-DBFA-98B9-58AAF8B8DF22}"/>
              </a:ext>
            </a:extLst>
          </p:cNvPr>
          <p:cNvSpPr txBox="1"/>
          <p:nvPr/>
        </p:nvSpPr>
        <p:spPr>
          <a:xfrm>
            <a:off x="3420786" y="3230650"/>
            <a:ext cx="18035163" cy="628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4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How can we engage more students into the field of quantum error correction?</a:t>
            </a:r>
            <a:endParaRPr lang="en-CA" sz="4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B52463-290D-0AB2-4C23-E78A3A1C402D}"/>
              </a:ext>
            </a:extLst>
          </p:cNvPr>
          <p:cNvSpPr txBox="1"/>
          <p:nvPr/>
        </p:nvSpPr>
        <p:spPr>
          <a:xfrm>
            <a:off x="3843338" y="2257425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1B780D-0A30-C212-64E4-C15B80F744E7}"/>
              </a:ext>
            </a:extLst>
          </p:cNvPr>
          <p:cNvSpPr txBox="1"/>
          <p:nvPr/>
        </p:nvSpPr>
        <p:spPr>
          <a:xfrm>
            <a:off x="3427971" y="10306135"/>
            <a:ext cx="17531230" cy="3139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rm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Inspired by the 2-D grid surface code and QGSS 2025 Lab 4, develop a game featuring elements of error correction that challenges players to optimize strategies against noise and errors.</a:t>
            </a: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D7F18DE-E4E1-B04D-8CBB-61065729F461}"/>
              </a:ext>
            </a:extLst>
          </p:cNvPr>
          <p:cNvGrpSpPr/>
          <p:nvPr/>
        </p:nvGrpSpPr>
        <p:grpSpPr>
          <a:xfrm>
            <a:off x="7376" y="4268394"/>
            <a:ext cx="24387175" cy="5737412"/>
            <a:chOff x="7376" y="4268394"/>
            <a:chExt cx="24387175" cy="573741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5528011-8885-5BED-7990-66D8B528D39C}"/>
                </a:ext>
              </a:extLst>
            </p:cNvPr>
            <p:cNvGrpSpPr/>
            <p:nvPr/>
          </p:nvGrpSpPr>
          <p:grpSpPr>
            <a:xfrm>
              <a:off x="7376" y="4268394"/>
              <a:ext cx="24387175" cy="5737412"/>
              <a:chOff x="7376" y="4268394"/>
              <a:chExt cx="24387175" cy="573741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CBE28E2-281C-6129-ED96-919A35E8A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6" y="4268394"/>
                <a:ext cx="24387175" cy="573741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CA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CA4ED-F802-845D-1616-396BDF6ADE53}"/>
                  </a:ext>
                </a:extLst>
              </p:cNvPr>
              <p:cNvSpPr txBox="1"/>
              <p:nvPr/>
            </p:nvSpPr>
            <p:spPr>
              <a:xfrm>
                <a:off x="6693550" y="9631331"/>
                <a:ext cx="12205252" cy="261610"/>
              </a:xfrm>
              <a:prstGeom prst="rect">
                <a:avLst/>
              </a:prstGeom>
              <a:noFill/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CA" sz="1100" i="1" dirty="0"/>
                  <a:t>(Image taken from </a:t>
                </a:r>
                <a:r>
                  <a:rPr lang="en-CA" sz="1100" i="1" dirty="0">
                    <a:hlinkClick r:id="rId4"/>
                  </a:rPr>
                  <a:t>https://arxiv.org/pdf/2308.07915</a:t>
                </a:r>
                <a:r>
                  <a:rPr lang="en-CA" sz="1100" i="1" dirty="0"/>
                  <a:t>: Tanner graph representation for the gross code, illustrating data qubits (circles) and stabilizers/checks (squares) on a toroidal grid.)</a:t>
                </a:r>
                <a:endParaRPr lang="en-CA" sz="1100" dirty="0"/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E88C561-EAAA-C35E-6ADF-A740DA9BB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86157" y="4418130"/>
              <a:ext cx="8814857" cy="4939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57938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D7C37-E41C-3F7B-A8D6-9BF258F65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481A82-F5AA-D8E5-E01D-1F748A917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544513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90F6B3-079A-622B-10EF-6C1E90D9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Historical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076D5-A51F-F9AB-D358-CA1369BBBD3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/>
              <a:t>Qiskit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5B55E-9790-D051-2817-7D062EF5C4E8}"/>
              </a:ext>
            </a:extLst>
          </p:cNvPr>
          <p:cNvSpPr txBox="1"/>
          <p:nvPr/>
        </p:nvSpPr>
        <p:spPr>
          <a:xfrm>
            <a:off x="576072" y="2671948"/>
            <a:ext cx="12534285" cy="8645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592F0A-E437-1112-0478-648842B171A8}"/>
              </a:ext>
            </a:extLst>
          </p:cNvPr>
          <p:cNvSpPr txBox="1"/>
          <p:nvPr/>
        </p:nvSpPr>
        <p:spPr>
          <a:xfrm>
            <a:off x="1654236" y="4893092"/>
            <a:ext cx="21078701" cy="4548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CA" b="1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794CAF-673B-0C34-461B-A85D06472E40}"/>
              </a:ext>
            </a:extLst>
          </p:cNvPr>
          <p:cNvSpPr txBox="1"/>
          <p:nvPr/>
        </p:nvSpPr>
        <p:spPr>
          <a:xfrm>
            <a:off x="3843338" y="2257425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A2721-8B47-4ECD-99E9-2851C2BEEC79}"/>
              </a:ext>
            </a:extLst>
          </p:cNvPr>
          <p:cNvSpPr txBox="1"/>
          <p:nvPr/>
        </p:nvSpPr>
        <p:spPr>
          <a:xfrm>
            <a:off x="6097657" y="6627168"/>
            <a:ext cx="12195312" cy="46166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CA" sz="24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34527-80C2-A57E-93B0-EAC569DDEC9D}"/>
              </a:ext>
            </a:extLst>
          </p:cNvPr>
          <p:cNvSpPr txBox="1"/>
          <p:nvPr/>
        </p:nvSpPr>
        <p:spPr>
          <a:xfrm>
            <a:off x="18139079" y="3572013"/>
            <a:ext cx="2266122" cy="914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qLDPC</a:t>
            </a:r>
            <a:endParaRPr lang="en-CA" sz="24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887F699-218A-F375-B2E5-8254B36C0FE2}"/>
              </a:ext>
            </a:extLst>
          </p:cNvPr>
          <p:cNvGrpSpPr/>
          <p:nvPr/>
        </p:nvGrpSpPr>
        <p:grpSpPr>
          <a:xfrm>
            <a:off x="1435576" y="2819373"/>
            <a:ext cx="18055224" cy="2775503"/>
            <a:chOff x="1435576" y="2819373"/>
            <a:chExt cx="18055224" cy="277550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C0850E0-8796-327A-8C01-33458786E3A1}"/>
                </a:ext>
              </a:extLst>
            </p:cNvPr>
            <p:cNvGrpSpPr/>
            <p:nvPr/>
          </p:nvGrpSpPr>
          <p:grpSpPr>
            <a:xfrm>
              <a:off x="1435576" y="2819373"/>
              <a:ext cx="18055224" cy="1670204"/>
              <a:chOff x="1435576" y="2819373"/>
              <a:chExt cx="18055224" cy="1670204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87B7E9-3BDB-F5B9-CC68-EEA98A06A730}"/>
                  </a:ext>
                </a:extLst>
              </p:cNvPr>
              <p:cNvSpPr txBox="1"/>
              <p:nvPr/>
            </p:nvSpPr>
            <p:spPr>
              <a:xfrm>
                <a:off x="3063834" y="3811979"/>
                <a:ext cx="0" cy="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0" tIns="0" rIns="0" bIns="0" rtlCol="0">
                <a:noAutofit/>
              </a:bodyPr>
              <a:lstStyle/>
              <a:p>
                <a:pPr marL="444465" indent="-446749" algn="l" defTabSz="2438400">
                  <a:spcBef>
                    <a:spcPts val="2900"/>
                  </a:spcBef>
                  <a:buSzPct val="100000"/>
                  <a:buFontTx/>
                  <a:buChar char="–"/>
                </a:pPr>
                <a:endParaRPr lang="en-CA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0B9DD8-3E78-2DE6-185E-BE9C8C34FA71}"/>
                  </a:ext>
                </a:extLst>
              </p:cNvPr>
              <p:cNvSpPr txBox="1"/>
              <p:nvPr/>
            </p:nvSpPr>
            <p:spPr>
              <a:xfrm>
                <a:off x="1971675" y="2957513"/>
                <a:ext cx="914400" cy="9144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rtlCol="0">
                <a:noAutofit/>
              </a:bodyPr>
              <a:lstStyle/>
              <a:p>
                <a:pPr algn="l" defTabSz="2438400">
                  <a:spcBef>
                    <a:spcPts val="2900"/>
                  </a:spcBef>
                  <a:buSzPct val="100000"/>
                </a:pPr>
                <a:endParaRPr lang="en-CA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endParaRP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CCFCE1E8-2958-B3B8-EEE0-9F76105E42C9}"/>
                  </a:ext>
                </a:extLst>
              </p:cNvPr>
              <p:cNvCxnSpPr/>
              <p:nvPr/>
            </p:nvCxnSpPr>
            <p:spPr bwMode="auto">
              <a:xfrm>
                <a:off x="1435576" y="3403600"/>
                <a:ext cx="17945729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triangle"/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25C80D-C7BD-EC54-C562-D232FBACBF23}"/>
                  </a:ext>
                </a:extLst>
              </p:cNvPr>
              <p:cNvSpPr txBox="1"/>
              <p:nvPr/>
            </p:nvSpPr>
            <p:spPr>
              <a:xfrm>
                <a:off x="1435576" y="2861526"/>
                <a:ext cx="1351721" cy="4237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0" tIns="0" rIns="0" bIns="0" rtlCol="0">
                <a:noAutofit/>
              </a:bodyPr>
              <a:lstStyle/>
              <a:p>
                <a:pPr algn="l" defTabSz="2438400">
                  <a:spcBef>
                    <a:spcPts val="2900"/>
                  </a:spcBef>
                  <a:buSzPct val="100000"/>
                </a:pPr>
                <a:r>
                  <a:rPr lang="en-US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1994</a:t>
                </a:r>
                <a:endParaRPr lang="en-CA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DB8F5F-083F-A818-0CBB-FE1C85348D4D}"/>
                  </a:ext>
                </a:extLst>
              </p:cNvPr>
              <p:cNvSpPr txBox="1"/>
              <p:nvPr/>
            </p:nvSpPr>
            <p:spPr>
              <a:xfrm>
                <a:off x="1435576" y="3575178"/>
                <a:ext cx="2266122" cy="9143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0" tIns="0" rIns="0" bIns="0" rtlCol="0">
                <a:noAutofit/>
              </a:bodyPr>
              <a:lstStyle/>
              <a:p>
                <a:pPr algn="l" defTabSz="2438400">
                  <a:spcBef>
                    <a:spcPts val="2900"/>
                  </a:spcBef>
                  <a:buSzPct val="100000"/>
                </a:pPr>
                <a:r>
                  <a:rPr lang="en-US" sz="24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Shor Code</a:t>
                </a:r>
                <a:endParaRPr lang="en-CA" sz="24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14C400-37F9-BE71-8027-2D9DC543C72A}"/>
                  </a:ext>
                </a:extLst>
              </p:cNvPr>
              <p:cNvSpPr txBox="1"/>
              <p:nvPr/>
            </p:nvSpPr>
            <p:spPr>
              <a:xfrm>
                <a:off x="4187240" y="2853956"/>
                <a:ext cx="1351721" cy="4237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rtlCol="0">
                <a:noAutofit/>
              </a:bodyPr>
              <a:lstStyle/>
              <a:p>
                <a:pPr algn="l" defTabSz="2438400">
                  <a:spcBef>
                    <a:spcPts val="2900"/>
                  </a:spcBef>
                  <a:buSzPct val="100000"/>
                </a:pPr>
                <a:r>
                  <a:rPr lang="en-US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1996</a:t>
                </a:r>
                <a:endParaRPr lang="en-CA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348F32F-3D00-B9B6-6527-90E5FCE49921}"/>
                  </a:ext>
                </a:extLst>
              </p:cNvPr>
              <p:cNvSpPr txBox="1"/>
              <p:nvPr/>
            </p:nvSpPr>
            <p:spPr>
              <a:xfrm>
                <a:off x="4223344" y="3575178"/>
                <a:ext cx="2266122" cy="9143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rtlCol="0">
                <a:noAutofit/>
              </a:bodyPr>
              <a:lstStyle/>
              <a:p>
                <a:pPr algn="l" defTabSz="2438400">
                  <a:spcBef>
                    <a:spcPts val="2900"/>
                  </a:spcBef>
                  <a:buSzPct val="100000"/>
                </a:pPr>
                <a:r>
                  <a:rPr lang="en-US" sz="24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CSS Code</a:t>
                </a:r>
                <a:endParaRPr lang="en-CA" sz="24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1230443-EE84-B64C-AA8C-6C0FAB9BB222}"/>
                  </a:ext>
                </a:extLst>
              </p:cNvPr>
              <p:cNvSpPr txBox="1"/>
              <p:nvPr/>
            </p:nvSpPr>
            <p:spPr>
              <a:xfrm>
                <a:off x="7322355" y="2869276"/>
                <a:ext cx="5163809" cy="49972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0" tIns="0" rIns="0" bIns="0" rtlCol="0">
                <a:noAutofit/>
              </a:bodyPr>
              <a:lstStyle/>
              <a:p>
                <a:pPr algn="l" defTabSz="2438400">
                  <a:spcBef>
                    <a:spcPts val="2900"/>
                  </a:spcBef>
                  <a:buSzPct val="100000"/>
                </a:pPr>
                <a:r>
                  <a:rPr lang="en-US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Late 1990s – early 2000s</a:t>
                </a:r>
                <a:endParaRPr lang="en-CA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3B7B20-B5EE-CE33-FA16-74BB5879E791}"/>
                  </a:ext>
                </a:extLst>
              </p:cNvPr>
              <p:cNvSpPr txBox="1"/>
              <p:nvPr/>
            </p:nvSpPr>
            <p:spPr>
              <a:xfrm>
                <a:off x="7373271" y="3575177"/>
                <a:ext cx="2266122" cy="9143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0" tIns="0" rIns="0" bIns="0" rtlCol="0">
                <a:noAutofit/>
              </a:bodyPr>
              <a:lstStyle/>
              <a:p>
                <a:pPr algn="l" defTabSz="2438400">
                  <a:spcBef>
                    <a:spcPts val="2900"/>
                  </a:spcBef>
                  <a:buSzPct val="100000"/>
                </a:pPr>
                <a:r>
                  <a:rPr lang="en-US" sz="24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Surface Code</a:t>
                </a:r>
                <a:endParaRPr lang="en-CA" sz="24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637010-C81A-73C8-35FA-9633D78D573B}"/>
                  </a:ext>
                </a:extLst>
              </p:cNvPr>
              <p:cNvSpPr txBox="1"/>
              <p:nvPr/>
            </p:nvSpPr>
            <p:spPr>
              <a:xfrm>
                <a:off x="13646456" y="2825893"/>
                <a:ext cx="1351721" cy="4237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0" tIns="0" rIns="0" bIns="0" rtlCol="0">
                <a:noAutofit/>
              </a:bodyPr>
              <a:lstStyle/>
              <a:p>
                <a:pPr algn="l" defTabSz="2438400">
                  <a:spcBef>
                    <a:spcPts val="2900"/>
                  </a:spcBef>
                  <a:buSzPct val="100000"/>
                </a:pPr>
                <a:r>
                  <a:rPr lang="en-US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1998</a:t>
                </a:r>
                <a:endParaRPr lang="en-CA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F0F6565-74FB-CD18-2289-027943987B81}"/>
                  </a:ext>
                </a:extLst>
              </p:cNvPr>
              <p:cNvSpPr txBox="1"/>
              <p:nvPr/>
            </p:nvSpPr>
            <p:spPr>
              <a:xfrm>
                <a:off x="13646456" y="3575178"/>
                <a:ext cx="2266122" cy="9143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rtlCol="0">
                <a:noAutofit/>
              </a:bodyPr>
              <a:lstStyle/>
              <a:p>
                <a:pPr algn="l" defTabSz="2438400">
                  <a:spcBef>
                    <a:spcPts val="2900"/>
                  </a:spcBef>
                  <a:buSzPct val="100000"/>
                </a:pPr>
                <a:r>
                  <a:rPr lang="en-US" sz="2400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Topological Code</a:t>
                </a:r>
                <a:endParaRPr lang="en-CA" sz="24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35A735-2005-2532-E85D-EB60AC4A799F}"/>
                  </a:ext>
                </a:extLst>
              </p:cNvPr>
              <p:cNvSpPr txBox="1"/>
              <p:nvPr/>
            </p:nvSpPr>
            <p:spPr>
              <a:xfrm>
                <a:off x="18139079" y="2819373"/>
                <a:ext cx="1351721" cy="4237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 rtlCol="0">
                <a:noAutofit/>
              </a:bodyPr>
              <a:lstStyle/>
              <a:p>
                <a:pPr algn="l" defTabSz="2438400">
                  <a:spcBef>
                    <a:spcPts val="2900"/>
                  </a:spcBef>
                  <a:buSzPct val="100000"/>
                </a:pPr>
                <a:r>
                  <a:rPr lang="en-US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rPr>
                  <a:t>Recent</a:t>
                </a:r>
                <a:endParaRPr lang="en-CA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endParaRPr>
              </a:p>
            </p:txBody>
          </p:sp>
        </p:grpSp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E10A0F4B-0975-B308-0998-E26307BDBF5A}"/>
                </a:ext>
              </a:extLst>
            </p:cNvPr>
            <p:cNvSpPr/>
            <p:nvPr/>
          </p:nvSpPr>
          <p:spPr bwMode="auto">
            <a:xfrm rot="10800000">
              <a:off x="12062873" y="3494887"/>
              <a:ext cx="335651" cy="978408"/>
            </a:xfrm>
            <a:prstGeom prst="downArrow">
              <a:avLst/>
            </a:prstGeom>
            <a:solidFill>
              <a:schemeClr val="tx2"/>
            </a:solidFill>
            <a:ln w="19050">
              <a:solidFill>
                <a:srgbClr val="E5F6FF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3EB0A79-E7C0-753D-C391-3D2EA436A769}"/>
                </a:ext>
              </a:extLst>
            </p:cNvPr>
            <p:cNvSpPr txBox="1"/>
            <p:nvPr/>
          </p:nvSpPr>
          <p:spPr>
            <a:xfrm>
              <a:off x="10929812" y="4641977"/>
              <a:ext cx="2266122" cy="9143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rtlCol="0">
              <a:noAutofit/>
            </a:bodyPr>
            <a:lstStyle/>
            <a:p>
              <a:pPr algn="l" defTabSz="2438400">
                <a:spcBef>
                  <a:spcPts val="2900"/>
                </a:spcBef>
                <a:buSzPct val="100000"/>
              </a:pPr>
              <a:r>
                <a:rPr lang="en-US" sz="24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Threshold Theorem</a:t>
              </a:r>
              <a:endParaRPr lang="en-CA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endParaRPr>
            </a:p>
          </p:txBody>
        </p:sp>
        <p:sp>
          <p:nvSpPr>
            <p:cNvPr id="37" name="Arrow: Down 36">
              <a:extLst>
                <a:ext uri="{FF2B5EF4-FFF2-40B4-BE49-F238E27FC236}">
                  <a16:creationId xmlns:a16="http://schemas.microsoft.com/office/drawing/2014/main" id="{EFAECF00-646F-B99F-1C37-520C89CC08EA}"/>
                </a:ext>
              </a:extLst>
            </p:cNvPr>
            <p:cNvSpPr/>
            <p:nvPr/>
          </p:nvSpPr>
          <p:spPr bwMode="auto">
            <a:xfrm rot="10800000">
              <a:off x="16252977" y="3508004"/>
              <a:ext cx="335651" cy="978408"/>
            </a:xfrm>
            <a:prstGeom prst="downArrow">
              <a:avLst/>
            </a:prstGeom>
            <a:solidFill>
              <a:schemeClr val="tx2"/>
            </a:solidFill>
            <a:ln w="19050">
              <a:solidFill>
                <a:srgbClr val="E5F6FF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96958D-30EE-C4E5-9B32-A305336F6ACB}"/>
                </a:ext>
              </a:extLst>
            </p:cNvPr>
            <p:cNvSpPr txBox="1"/>
            <p:nvPr/>
          </p:nvSpPr>
          <p:spPr>
            <a:xfrm>
              <a:off x="15287741" y="4680477"/>
              <a:ext cx="2266122" cy="9143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rtlCol="0">
              <a:noAutofit/>
            </a:bodyPr>
            <a:lstStyle/>
            <a:p>
              <a:pPr algn="l" defTabSz="2438400">
                <a:spcBef>
                  <a:spcPts val="2900"/>
                </a:spcBef>
                <a:buSzPct val="100000"/>
              </a:pPr>
              <a:r>
                <a:rPr lang="en-US" sz="24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Small-scale demonstrations</a:t>
              </a:r>
              <a:endParaRPr lang="en-CA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2D13E2E-8412-AD3A-280F-F569E5C3C615}"/>
              </a:ext>
            </a:extLst>
          </p:cNvPr>
          <p:cNvGrpSpPr/>
          <p:nvPr/>
        </p:nvGrpSpPr>
        <p:grpSpPr>
          <a:xfrm>
            <a:off x="0" y="5781529"/>
            <a:ext cx="24424285" cy="6496516"/>
            <a:chOff x="0" y="5781529"/>
            <a:chExt cx="24424285" cy="6496516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84FBFA3-6200-F377-813E-B21AADB08FF2}"/>
                </a:ext>
              </a:extLst>
            </p:cNvPr>
            <p:cNvGrpSpPr/>
            <p:nvPr/>
          </p:nvGrpSpPr>
          <p:grpSpPr>
            <a:xfrm>
              <a:off x="0" y="5781529"/>
              <a:ext cx="24424285" cy="5737412"/>
              <a:chOff x="0" y="5781529"/>
              <a:chExt cx="24424285" cy="5737412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D9890C0-66FF-9677-CC3A-3EDE8E2DD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5781529"/>
                <a:ext cx="24424285" cy="573741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CA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FA6C20A6-A348-060C-3373-2C5B38C6016C}"/>
                  </a:ext>
                </a:extLst>
              </p:cNvPr>
              <p:cNvGrpSpPr/>
              <p:nvPr/>
            </p:nvGrpSpPr>
            <p:grpSpPr>
              <a:xfrm>
                <a:off x="1435576" y="6674112"/>
                <a:ext cx="21297361" cy="4797016"/>
                <a:chOff x="1435576" y="6674112"/>
                <a:chExt cx="21297361" cy="4797016"/>
              </a:xfrm>
            </p:grpSpPr>
            <p:pic>
              <p:nvPicPr>
                <p:cNvPr id="41" name="Graphic 40" descr="Encoding circuit for the 9-qubit Shor code showing three blocks">
                  <a:extLst>
                    <a:ext uri="{FF2B5EF4-FFF2-40B4-BE49-F238E27FC236}">
                      <a16:creationId xmlns:a16="http://schemas.microsoft.com/office/drawing/2014/main" id="{3340AF9C-FB94-C7C8-E5E3-244FA9953D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35576" y="6720969"/>
                  <a:ext cx="6911737" cy="3889722"/>
                </a:xfrm>
                <a:prstGeom prst="rect">
                  <a:avLst/>
                </a:prstGeom>
              </p:spPr>
            </p:pic>
            <p:pic>
              <p:nvPicPr>
                <p:cNvPr id="42" name="Graphic 41" descr="A 9-by-9 lattice wrapped into a torus">
                  <a:extLst>
                    <a:ext uri="{FF2B5EF4-FFF2-40B4-BE49-F238E27FC236}">
                      <a16:creationId xmlns:a16="http://schemas.microsoft.com/office/drawing/2014/main" id="{FD60A677-7B1D-7311-24E8-7FC8CEDF2D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477282" y="6674112"/>
                  <a:ext cx="5034185" cy="3983436"/>
                </a:xfrm>
                <a:prstGeom prst="rect">
                  <a:avLst/>
                </a:prstGeom>
              </p:spPr>
            </p:pic>
            <p:pic>
              <p:nvPicPr>
                <p:cNvPr id="43" name="Graphic 42" descr="Diagram of a rotated surface code">
                  <a:extLst>
                    <a:ext uri="{FF2B5EF4-FFF2-40B4-BE49-F238E27FC236}">
                      <a16:creationId xmlns:a16="http://schemas.microsoft.com/office/drawing/2014/main" id="{7B8E6491-2C3E-9CB9-1C02-2EB1CBC984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546976" y="6674112"/>
                  <a:ext cx="7185961" cy="3990239"/>
                </a:xfrm>
                <a:prstGeom prst="rect">
                  <a:avLst/>
                </a:prstGeom>
              </p:spPr>
            </p:pic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20373A6-86C9-1E13-456B-7608AA68C7E3}"/>
                    </a:ext>
                  </a:extLst>
                </p:cNvPr>
                <p:cNvSpPr txBox="1"/>
                <p:nvPr/>
              </p:nvSpPr>
              <p:spPr>
                <a:xfrm>
                  <a:off x="2665078" y="10839148"/>
                  <a:ext cx="4452731" cy="59634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ctr" defTabSz="2438400">
                    <a:spcBef>
                      <a:spcPts val="2900"/>
                    </a:spcBef>
                    <a:buSzPct val="100000"/>
                  </a:pPr>
                  <a:r>
                    <a:rPr lang="fr-CA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9-qubit Shor code</a:t>
                  </a:r>
                  <a:endParaRPr lang="en-CA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endParaRP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E768FF5-BDD0-0008-89ED-C4E091227068}"/>
                    </a:ext>
                  </a:extLst>
                </p:cNvPr>
                <p:cNvSpPr txBox="1"/>
                <p:nvPr/>
              </p:nvSpPr>
              <p:spPr>
                <a:xfrm>
                  <a:off x="10813773" y="10874782"/>
                  <a:ext cx="2296583" cy="59634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ctr" defTabSz="2438400">
                    <a:spcBef>
                      <a:spcPts val="2900"/>
                    </a:spcBef>
                    <a:buSzPct val="100000"/>
                  </a:pPr>
                  <a:r>
                    <a:rPr lang="fr-CA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Toric code</a:t>
                  </a:r>
                  <a:endParaRPr lang="en-CA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CB19EA5-E6FE-647C-EBF1-0BDB03C5BE26}"/>
                    </a:ext>
                  </a:extLst>
                </p:cNvPr>
                <p:cNvSpPr txBox="1"/>
                <p:nvPr/>
              </p:nvSpPr>
              <p:spPr>
                <a:xfrm>
                  <a:off x="17598589" y="10839149"/>
                  <a:ext cx="2878898" cy="59634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ctr" defTabSz="2438400">
                    <a:spcBef>
                      <a:spcPts val="2900"/>
                    </a:spcBef>
                    <a:buSzPct val="100000"/>
                  </a:pPr>
                  <a:r>
                    <a:rPr lang="fr-CA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Surface code</a:t>
                  </a:r>
                  <a:endParaRPr lang="en-CA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endParaRPr>
                </a:p>
              </p:txBody>
            </p: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7E3EA4A-0F9A-E14D-0272-5DBE28659808}"/>
                </a:ext>
              </a:extLst>
            </p:cNvPr>
            <p:cNvSpPr txBox="1"/>
            <p:nvPr/>
          </p:nvSpPr>
          <p:spPr>
            <a:xfrm>
              <a:off x="3879863" y="11877935"/>
              <a:ext cx="16366020" cy="400110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CA" sz="2000" i="1" dirty="0"/>
                <a:t>Source:</a:t>
              </a:r>
              <a:r>
                <a:rPr lang="en-CA" sz="2000" dirty="0"/>
                <a:t> Watrous (2024), </a:t>
              </a:r>
              <a:r>
                <a:rPr lang="en-CA" sz="2000" dirty="0">
                  <a:hlinkClick r:id="rId7"/>
                </a:rPr>
                <a:t>IBM Quantum Learning: Foundations of Quantum Error Correction</a:t>
              </a:r>
              <a:r>
                <a:rPr lang="en-CA" sz="20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875126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1591-F884-7D40-2F05-D7927DC29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F12B4C-5B27-AD01-7BAB-222B84275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72A7F5-F6E6-14AB-DF16-8C7D46BE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Tracks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0BDF019-7CDA-5874-E2A9-6C2AB8C3EF2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3358737" y="5886856"/>
            <a:ext cx="18088099" cy="30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1A383-3E4E-B8E2-DA6F-AFAC14D4FD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>
          <a:xfrm>
            <a:off x="3734908" y="6447688"/>
            <a:ext cx="4949825" cy="5344917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1. </a:t>
            </a:r>
          </a:p>
          <a:p>
            <a:br>
              <a:rPr lang="en-US" dirty="0"/>
            </a:br>
            <a:r>
              <a:rPr lang="en-US" sz="4000" b="1" dirty="0"/>
              <a:t>Error detection with the spacetime code.</a:t>
            </a:r>
            <a:endParaRPr lang="en-US" dirty="0"/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FCF96CC6-C382-8483-AB2E-FFF4A998944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9254836" y="5886856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08E36-42CD-2D04-7FC1-1E7FC2766D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9828427" y="6458357"/>
            <a:ext cx="4949825" cy="5344917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2.</a:t>
            </a:r>
          </a:p>
          <a:p>
            <a:br>
              <a:rPr lang="en-US" dirty="0"/>
            </a:br>
            <a:r>
              <a:rPr lang="en-US" sz="4000" b="1" dirty="0"/>
              <a:t>Error mitigation with PNA, SLC and NoiseLearnerV3.</a:t>
            </a:r>
            <a:endParaRPr lang="en-US" dirty="0"/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A2D5EBE8-AF6E-42D2-1461-998FBEDDDB1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5347788" y="5889904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1D78D-A73D-4F42-253C-3E3B61F827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5926596" y="6458357"/>
            <a:ext cx="4949825" cy="5344917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3.</a:t>
            </a:r>
          </a:p>
          <a:p>
            <a:br>
              <a:rPr lang="en-US" dirty="0"/>
            </a:br>
            <a:r>
              <a:rPr lang="en-US" sz="4000" b="1" dirty="0"/>
              <a:t>Error correction with the surface code.</a:t>
            </a:r>
            <a:endParaRPr lang="en-US" dirty="0"/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660B3DC6-3D35-B11A-58A1-4519DE82B68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21446836" y="5886856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22A574-BFF6-CF81-FA3C-41574FA4DA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/>
              <a:t>Qiskit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6C4D66-150F-596D-3E56-653C99B06256}"/>
              </a:ext>
            </a:extLst>
          </p:cNvPr>
          <p:cNvSpPr txBox="1"/>
          <p:nvPr/>
        </p:nvSpPr>
        <p:spPr>
          <a:xfrm>
            <a:off x="4856750" y="3274376"/>
            <a:ext cx="14664404" cy="657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The prompt is split into 3 tracks in which the participants can explore freely</a:t>
            </a:r>
            <a:endParaRPr lang="en-CA" b="1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cxnSp>
        <p:nvCxnSpPr>
          <p:cNvPr id="16" name="Straight Connector 15" descr="Vertical column divider">
            <a:extLst>
              <a:ext uri="{FF2B5EF4-FFF2-40B4-BE49-F238E27FC236}">
                <a16:creationId xmlns:a16="http://schemas.microsoft.com/office/drawing/2014/main" id="{8E09553E-262A-C097-981D-1B6343FDCF7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3358737" y="5886856"/>
            <a:ext cx="0" cy="591641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5857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uiExpand="1" build="p" animBg="1"/>
      <p:bldP spid="5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F6FF8A-9BEC-3856-628A-6DC6B7E1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9F4AA1-DBC5-D0E5-921E-038A59241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544513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CF9D4F-B6A9-EA98-EBA5-36AFAB9C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Detection Track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B4FC5-FEC1-2CC5-AFEE-8F48852E219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/>
              <a:t>Qiskit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A6B62E-A9AE-B7F6-B80C-E694DF7FD981}"/>
              </a:ext>
            </a:extLst>
          </p:cNvPr>
          <p:cNvSpPr txBox="1"/>
          <p:nvPr/>
        </p:nvSpPr>
        <p:spPr>
          <a:xfrm>
            <a:off x="828675" y="2514599"/>
            <a:ext cx="11501438" cy="1914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The 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4"/>
              </a:rPr>
              <a:t>qiskit-paulice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package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5"/>
              </a:rPr>
              <a:t>Low-overhead error detection with spacetime codes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Built on top of </a:t>
            </a: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6"/>
              </a:rPr>
              <a:t>CPC</a:t>
            </a: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6CA259-5D50-766C-40E1-3BBA60C0BF47}"/>
              </a:ext>
            </a:extLst>
          </p:cNvPr>
          <p:cNvGrpSpPr/>
          <p:nvPr/>
        </p:nvGrpSpPr>
        <p:grpSpPr>
          <a:xfrm>
            <a:off x="2586038" y="5857872"/>
            <a:ext cx="19740562" cy="2100266"/>
            <a:chOff x="2586038" y="5857872"/>
            <a:chExt cx="19740562" cy="210026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E82F10-937B-5526-BC56-CCCFD6CAFADF}"/>
                </a:ext>
              </a:extLst>
            </p:cNvPr>
            <p:cNvSpPr/>
            <p:nvPr/>
          </p:nvSpPr>
          <p:spPr bwMode="auto">
            <a:xfrm>
              <a:off x="2586038" y="5857874"/>
              <a:ext cx="4386262" cy="2100263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19050">
              <a:solidFill>
                <a:schemeClr val="tx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Payload Circuit Data Qubits &amp; Logic</a:t>
              </a:r>
              <a:endParaRPr kumimoji="0" lang="en-CA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E36B1AE-1C6C-4D91-DB1E-F84383D60BB6}"/>
                </a:ext>
              </a:extLst>
            </p:cNvPr>
            <p:cNvSpPr/>
            <p:nvPr/>
          </p:nvSpPr>
          <p:spPr bwMode="auto">
            <a:xfrm>
              <a:off x="7651034" y="5857873"/>
              <a:ext cx="4386262" cy="2100263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19050">
              <a:solidFill>
                <a:schemeClr val="tx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Spacetime Checks Controlled Pauli X/Y/Z</a:t>
              </a:r>
              <a:endParaRPr kumimoji="0" lang="en-CA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B054B7D-3481-B1FF-F7A1-CA640EE87239}"/>
                </a:ext>
              </a:extLst>
            </p:cNvPr>
            <p:cNvSpPr/>
            <p:nvPr/>
          </p:nvSpPr>
          <p:spPr bwMode="auto">
            <a:xfrm>
              <a:off x="12795686" y="5857872"/>
              <a:ext cx="4386262" cy="2100263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19050">
              <a:solidFill>
                <a:schemeClr val="tx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Ancilla Readout Syndrome Measurement</a:t>
              </a:r>
              <a:endParaRPr kumimoji="0" lang="en-CA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477405F-C824-02E9-449D-2C46099BDF26}"/>
                </a:ext>
              </a:extLst>
            </p:cNvPr>
            <p:cNvSpPr/>
            <p:nvPr/>
          </p:nvSpPr>
          <p:spPr bwMode="auto">
            <a:xfrm>
              <a:off x="17940338" y="5857875"/>
              <a:ext cx="4386262" cy="2100263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19050">
              <a:solidFill>
                <a:schemeClr val="tx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Post-Selection Filter Discard Corrupted Shots</a:t>
              </a:r>
              <a:endParaRPr kumimoji="0" lang="en-CA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AF452AE9-38E5-CC36-1CC6-7F9F307C880E}"/>
                </a:ext>
              </a:extLst>
            </p:cNvPr>
            <p:cNvSpPr/>
            <p:nvPr/>
          </p:nvSpPr>
          <p:spPr bwMode="auto">
            <a:xfrm>
              <a:off x="6804878" y="6681116"/>
              <a:ext cx="978408" cy="484632"/>
            </a:xfrm>
            <a:prstGeom prst="rightArrow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07166AA0-10E4-F4D6-BF66-A3C927AE16C7}"/>
                </a:ext>
              </a:extLst>
            </p:cNvPr>
            <p:cNvSpPr/>
            <p:nvPr/>
          </p:nvSpPr>
          <p:spPr bwMode="auto">
            <a:xfrm>
              <a:off x="12002126" y="6681116"/>
              <a:ext cx="978408" cy="484632"/>
            </a:xfrm>
            <a:prstGeom prst="rightArrow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D0F0C0E6-B336-E6A9-B2E3-391DD3B9F1F2}"/>
                </a:ext>
              </a:extLst>
            </p:cNvPr>
            <p:cNvSpPr/>
            <p:nvPr/>
          </p:nvSpPr>
          <p:spPr bwMode="auto">
            <a:xfrm>
              <a:off x="17143879" y="6681116"/>
              <a:ext cx="978408" cy="484632"/>
            </a:xfrm>
            <a:prstGeom prst="rightArrow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CA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A8D558A-A13D-5B21-A417-96353BDA0266}"/>
              </a:ext>
            </a:extLst>
          </p:cNvPr>
          <p:cNvSpPr txBox="1"/>
          <p:nvPr/>
        </p:nvSpPr>
        <p:spPr>
          <a:xfrm>
            <a:off x="13387388" y="1225391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Check out: </a:t>
            </a: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7"/>
              </a:rPr>
              <a:t>Spacetime codes of Clifford circuits visualization</a:t>
            </a:r>
            <a:endParaRPr lang="en-CA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B21975-1DD7-7A99-A9A0-E8C493978DFD}"/>
              </a:ext>
            </a:extLst>
          </p:cNvPr>
          <p:cNvSpPr txBox="1"/>
          <p:nvPr/>
        </p:nvSpPr>
        <p:spPr>
          <a:xfrm>
            <a:off x="1071563" y="9298306"/>
            <a:ext cx="11908971" cy="1060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0C8A29-165F-1F93-A817-C4C96FB22D0A}"/>
              </a:ext>
            </a:extLst>
          </p:cNvPr>
          <p:cNvSpPr txBox="1"/>
          <p:nvPr/>
        </p:nvSpPr>
        <p:spPr>
          <a:xfrm>
            <a:off x="2578894" y="8719792"/>
            <a:ext cx="8001000" cy="3273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Factors affecting fidelity:</a:t>
            </a:r>
          </a:p>
          <a:p>
            <a:pPr marL="1369604" lvl="1" indent="-4572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Circuit depth</a:t>
            </a:r>
          </a:p>
          <a:p>
            <a:pPr marL="1369604" lvl="1" indent="-4572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Number of T gates</a:t>
            </a:r>
          </a:p>
          <a:p>
            <a:pPr marL="1369604" lvl="1" indent="-4572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Locations of the spacetime code</a:t>
            </a:r>
            <a:endParaRPr lang="en-CA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88CAC5-C73F-B89D-818E-83825ACBB750}"/>
              </a:ext>
            </a:extLst>
          </p:cNvPr>
          <p:cNvSpPr txBox="1"/>
          <p:nvPr/>
        </p:nvSpPr>
        <p:spPr>
          <a:xfrm>
            <a:off x="12795686" y="8721613"/>
            <a:ext cx="8001000" cy="3273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rm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Do:</a:t>
            </a: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Calculate the fidelity of the circuit. Compare the Clifford-only circuit and the T-doped circuit fidelity. 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US" sz="28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Goal:</a:t>
            </a: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Determine the best fidelity rate</a:t>
            </a:r>
            <a:endParaRPr lang="en-CA" sz="2800" b="1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72278896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A7856-EEAB-8159-15C8-B7794AE8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3728E4-5BF8-2628-B8EA-EDCE191EA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544513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FBB74B-4F52-FF14-8100-3DA8253A5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Mitigation Track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E5CD3-FC95-5D94-0344-ABFEBBFDC1C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/>
              <a:t>Qiskit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87869D-48E0-650E-2E42-983D1A749BF7}"/>
              </a:ext>
            </a:extLst>
          </p:cNvPr>
          <p:cNvSpPr txBox="1"/>
          <p:nvPr/>
        </p:nvSpPr>
        <p:spPr>
          <a:xfrm>
            <a:off x="1880244" y="3403600"/>
            <a:ext cx="19071772" cy="6498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just" defTabSz="2438400">
              <a:lnSpc>
                <a:spcPct val="150000"/>
              </a:lnSpc>
              <a:spcBef>
                <a:spcPts val="2900"/>
              </a:spcBef>
              <a:buSzPct val="100000"/>
            </a:pPr>
            <a:endParaRPr lang="en-CA" sz="2800" b="1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E3B23-9F23-E6D2-C206-66A91C436157}"/>
              </a:ext>
            </a:extLst>
          </p:cNvPr>
          <p:cNvSpPr txBox="1"/>
          <p:nvPr/>
        </p:nvSpPr>
        <p:spPr>
          <a:xfrm>
            <a:off x="2265943" y="2814187"/>
            <a:ext cx="7670845" cy="6968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Mitigation Techniques</a:t>
            </a:r>
          </a:p>
          <a:p>
            <a:pPr marL="571500" indent="-5715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Dynamical decoupling (DD)</a:t>
            </a:r>
          </a:p>
          <a:p>
            <a:pPr marL="571500" indent="-5715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Pauli Twirling</a:t>
            </a:r>
          </a:p>
          <a:p>
            <a:pPr marL="571500" indent="-5715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Twirled Readout Error </a:t>
            </a:r>
            <a:r>
              <a:rPr lang="en-US" sz="2400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eXtinction</a:t>
            </a: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(TREX)</a:t>
            </a:r>
          </a:p>
          <a:p>
            <a:pPr marL="571500" indent="-5715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Zero-Noise Extrapolation (ZNE)</a:t>
            </a:r>
          </a:p>
          <a:p>
            <a:pPr marL="571500" indent="-5715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Probabilistic Error Cancellation (PEC)</a:t>
            </a:r>
          </a:p>
          <a:p>
            <a:pPr marL="571500" indent="-5715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Pauli Twirling / Randomized Compiling</a:t>
            </a:r>
          </a:p>
          <a:p>
            <a:pPr marL="571500" indent="-5715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Matrix-Free Measurement Mitigation (M3)</a:t>
            </a:r>
          </a:p>
          <a:p>
            <a:pPr marL="571500" indent="-5715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Etc</a:t>
            </a: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46339B-5823-BAEE-F41E-21511F3D7581}"/>
              </a:ext>
            </a:extLst>
          </p:cNvPr>
          <p:cNvSpPr txBox="1"/>
          <p:nvPr/>
        </p:nvSpPr>
        <p:spPr>
          <a:xfrm>
            <a:off x="11729458" y="291465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D437A-6E32-F57B-8719-2335B191C96A}"/>
              </a:ext>
            </a:extLst>
          </p:cNvPr>
          <p:cNvSpPr txBox="1"/>
          <p:nvPr/>
        </p:nvSpPr>
        <p:spPr>
          <a:xfrm>
            <a:off x="11469862" y="2828389"/>
            <a:ext cx="8088087" cy="3592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CA" b="1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Qiskit</a:t>
            </a:r>
            <a:r>
              <a:rPr lang="en-CA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Add-ons:</a:t>
            </a:r>
          </a:p>
          <a:p>
            <a:pPr marL="571500" indent="-571500" algn="l" defTabSz="2438400">
              <a:spcBef>
                <a:spcPts val="2900"/>
              </a:spcBef>
              <a:buSzPct val="100000"/>
              <a:buFontTx/>
              <a:buChar char="-"/>
            </a:pPr>
            <a:r>
              <a:rPr lang="en-CA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4"/>
              </a:rPr>
              <a:t>PNA</a:t>
            </a:r>
            <a:r>
              <a:rPr lang="en-CA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(Propagated Noise Absorption)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CA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-    </a:t>
            </a:r>
            <a:r>
              <a:rPr lang="en-CA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5"/>
              </a:rPr>
              <a:t>SLC</a:t>
            </a:r>
            <a:r>
              <a:rPr lang="en-CA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(Shaded </a:t>
            </a:r>
            <a:r>
              <a:rPr lang="en-CA" sz="3200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Lightcones</a:t>
            </a:r>
            <a:r>
              <a:rPr lang="en-CA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)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CA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6"/>
              </a:rPr>
              <a:t>NoiseLearnerV3</a:t>
            </a:r>
            <a:endParaRPr lang="en-CA" sz="32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  <a:p>
            <a:pPr algn="l" defTabSz="2438400">
              <a:spcBef>
                <a:spcPts val="2900"/>
              </a:spcBef>
              <a:buSzPct val="100000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52956A-AB84-5CCF-1002-232243A1A76D}"/>
              </a:ext>
            </a:extLst>
          </p:cNvPr>
          <p:cNvGrpSpPr/>
          <p:nvPr/>
        </p:nvGrpSpPr>
        <p:grpSpPr>
          <a:xfrm>
            <a:off x="9551089" y="6581141"/>
            <a:ext cx="12213906" cy="5815094"/>
            <a:chOff x="9551089" y="6581141"/>
            <a:chExt cx="12213906" cy="5815094"/>
          </a:xfrm>
        </p:grpSpPr>
        <p:pic>
          <p:nvPicPr>
            <p:cNvPr id="9" name="Picture 8" descr="Lightcones">
              <a:extLst>
                <a:ext uri="{FF2B5EF4-FFF2-40B4-BE49-F238E27FC236}">
                  <a16:creationId xmlns:a16="http://schemas.microsoft.com/office/drawing/2014/main" id="{17D4B25D-7B0C-046E-D633-EC4E257E7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469862" y="8388844"/>
              <a:ext cx="8394955" cy="3539131"/>
            </a:xfrm>
            <a:prstGeom prst="rect">
              <a:avLst/>
            </a:prstGeom>
          </p:spPr>
        </p:pic>
        <p:pic>
          <p:nvPicPr>
            <p:cNvPr id="10" name="Picture 9" descr="_images/noise_mitigated_expt.png">
              <a:extLst>
                <a:ext uri="{FF2B5EF4-FFF2-40B4-BE49-F238E27FC236}">
                  <a16:creationId xmlns:a16="http://schemas.microsoft.com/office/drawing/2014/main" id="{08A2D74D-E19D-F93B-91A5-F45421DBC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469862" y="6581141"/>
              <a:ext cx="8423959" cy="144716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999509-E256-A69A-2175-204A4B5F47F5}"/>
                </a:ext>
              </a:extLst>
            </p:cNvPr>
            <p:cNvSpPr txBox="1"/>
            <p:nvPr/>
          </p:nvSpPr>
          <p:spPr>
            <a:xfrm>
              <a:off x="9551089" y="8008594"/>
              <a:ext cx="12195312" cy="307777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CA" sz="1400" i="1" dirty="0"/>
                <a:t>Source:</a:t>
              </a:r>
              <a:r>
                <a:rPr lang="en-CA" sz="1400" dirty="0"/>
                <a:t> Adapted from </a:t>
              </a:r>
              <a:r>
                <a:rPr lang="en-CA" sz="1400" dirty="0" err="1"/>
                <a:t>Qiskit</a:t>
              </a:r>
              <a:r>
                <a:rPr lang="en-CA" sz="1400" dirty="0"/>
                <a:t> Community, </a:t>
              </a:r>
              <a:r>
                <a:rPr lang="en-CA" sz="1400" dirty="0" err="1">
                  <a:latin typeface="+mn-lt"/>
                </a:rPr>
                <a:t>qiskit</a:t>
              </a:r>
              <a:r>
                <a:rPr lang="en-CA" sz="1400" dirty="0">
                  <a:latin typeface="+mn-lt"/>
                </a:rPr>
                <a:t>-addon-</a:t>
              </a:r>
              <a:r>
                <a:rPr lang="en-CA" sz="1400" dirty="0" err="1">
                  <a:latin typeface="+mn-lt"/>
                </a:rPr>
                <a:t>pna</a:t>
              </a:r>
              <a:r>
                <a:rPr lang="en-CA" sz="1400" dirty="0"/>
                <a:t> repository, GitHub.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D69544-76E9-23AB-9201-96A79CE8CD92}"/>
                </a:ext>
              </a:extLst>
            </p:cNvPr>
            <p:cNvSpPr txBox="1"/>
            <p:nvPr/>
          </p:nvSpPr>
          <p:spPr>
            <a:xfrm>
              <a:off x="9569683" y="12088458"/>
              <a:ext cx="12195312" cy="307777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>
              <a:spAutoFit/>
            </a:bodyPr>
            <a:lstStyle/>
            <a:p>
              <a:pPr algn="ctr" defTabSz="2438400">
                <a:spcBef>
                  <a:spcPts val="2900"/>
                </a:spcBef>
                <a:buSzPct val="100000"/>
              </a:pPr>
              <a:r>
                <a:rPr lang="en-CA" sz="1400" i="1" dirty="0"/>
                <a:t>Source:</a:t>
              </a:r>
              <a:r>
                <a:rPr lang="en-CA" sz="1400" dirty="0"/>
                <a:t> Adapted from </a:t>
              </a:r>
              <a:r>
                <a:rPr lang="en-CA" sz="1400" dirty="0" err="1"/>
                <a:t>Qiskit</a:t>
              </a:r>
              <a:r>
                <a:rPr lang="en-CA" sz="1400" dirty="0"/>
                <a:t> Community, </a:t>
              </a:r>
              <a:r>
                <a:rPr lang="en-CA" sz="1400" dirty="0" err="1"/>
                <a:t>qiskit</a:t>
              </a:r>
              <a:r>
                <a:rPr lang="en-CA" sz="1400" dirty="0"/>
                <a:t>-addon-</a:t>
              </a:r>
              <a:r>
                <a:rPr lang="en-CA" sz="1400" dirty="0" err="1"/>
                <a:t>slc</a:t>
              </a:r>
              <a:r>
                <a:rPr lang="en-CA" sz="1400" dirty="0"/>
                <a:t> repository, GitHub.</a:t>
              </a:r>
              <a:endParaRPr lang="en-CA" sz="1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89E8D75-A377-4802-B42C-F13C6CE540BE}"/>
              </a:ext>
            </a:extLst>
          </p:cNvPr>
          <p:cNvSpPr txBox="1"/>
          <p:nvPr/>
        </p:nvSpPr>
        <p:spPr>
          <a:xfrm>
            <a:off x="2405270" y="1041620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2009E9-737B-3F4E-5CD7-C242AF6EB5D7}"/>
              </a:ext>
            </a:extLst>
          </p:cNvPr>
          <p:cNvSpPr txBox="1"/>
          <p:nvPr/>
        </p:nvSpPr>
        <p:spPr>
          <a:xfrm>
            <a:off x="2265943" y="9867474"/>
            <a:ext cx="7106112" cy="2255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rmAutofit fontScale="92500" lnSpcReduction="20000"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32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Goal</a:t>
            </a:r>
            <a:r>
              <a:rPr lang="en-US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: Obtain the best value within some margin by reducing the noise using these techniques. 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US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*Very cool to experiment with what works and what doesn’t work.</a:t>
            </a:r>
          </a:p>
          <a:p>
            <a:pPr algn="l" defTabSz="2438400">
              <a:spcBef>
                <a:spcPts val="2900"/>
              </a:spcBef>
              <a:buSzPct val="100000"/>
            </a:pPr>
            <a:endParaRPr lang="en-CA" sz="32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12435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F63F3-708C-C5FA-7A6C-E0E20C6B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60D510-06C3-FC90-F0F6-B5440DFE7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544513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D8399C-E389-BF19-5CBB-4FB2F09E6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Correction Track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68C3B-73A3-23DE-BBAD-2D25FBE5581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/>
              <a:t>Qiskit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819E5-2F70-DAE2-BCBA-BA783E3E26D3}"/>
              </a:ext>
            </a:extLst>
          </p:cNvPr>
          <p:cNvSpPr txBox="1"/>
          <p:nvPr/>
        </p:nvSpPr>
        <p:spPr>
          <a:xfrm>
            <a:off x="7783286" y="5301342"/>
            <a:ext cx="14543314" cy="7130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1EABCE-FBF2-DA73-4A5F-3FBB6B8E9F95}"/>
              </a:ext>
            </a:extLst>
          </p:cNvPr>
          <p:cNvSpPr txBox="1"/>
          <p:nvPr/>
        </p:nvSpPr>
        <p:spPr>
          <a:xfrm>
            <a:off x="2060575" y="3371163"/>
            <a:ext cx="19071772" cy="6498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just" defTabSz="2438400">
              <a:lnSpc>
                <a:spcPct val="150000"/>
              </a:lnSpc>
              <a:spcBef>
                <a:spcPts val="2900"/>
              </a:spcBef>
              <a:buSzPct val="100000"/>
            </a:pPr>
            <a:endParaRPr lang="en-CA" sz="2800" b="1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B5D32C-4CC6-0CDD-CA18-03344572B05E}"/>
              </a:ext>
            </a:extLst>
          </p:cNvPr>
          <p:cNvSpPr txBox="1"/>
          <p:nvPr/>
        </p:nvSpPr>
        <p:spPr>
          <a:xfrm>
            <a:off x="576072" y="2112966"/>
            <a:ext cx="11905130" cy="3559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fr-CA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Surface codes can be decoded by using many methods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fr-CA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The main ones: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AB8F9B-5787-A430-2BA4-35BD52C42441}"/>
              </a:ext>
            </a:extLst>
          </p:cNvPr>
          <p:cNvSpPr txBox="1"/>
          <p:nvPr/>
        </p:nvSpPr>
        <p:spPr>
          <a:xfrm>
            <a:off x="6100482" y="6657945"/>
            <a:ext cx="12200964" cy="400110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lvl="1" defTabSz="2438400">
              <a:spcBef>
                <a:spcPts val="2900"/>
              </a:spcBef>
              <a:buSzPct val="100000"/>
            </a:pPr>
            <a:endParaRPr lang="fr-CA" sz="2000" b="1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3E5B7C-36FF-3E88-2DA4-21DF03A82861}"/>
              </a:ext>
            </a:extLst>
          </p:cNvPr>
          <p:cNvSpPr txBox="1"/>
          <p:nvPr/>
        </p:nvSpPr>
        <p:spPr>
          <a:xfrm>
            <a:off x="12631244" y="12543691"/>
            <a:ext cx="10183907" cy="606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Check out: </a:t>
            </a: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4"/>
              </a:rPr>
              <a:t>Review on the decoding algorithms for surface codes</a:t>
            </a:r>
            <a:endParaRPr lang="en-CA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F9CDCE-558C-EB3F-F9D8-1F6F4826175A}"/>
              </a:ext>
            </a:extLst>
          </p:cNvPr>
          <p:cNvSpPr txBox="1"/>
          <p:nvPr/>
        </p:nvSpPr>
        <p:spPr>
          <a:xfrm>
            <a:off x="1769164" y="10296939"/>
            <a:ext cx="21013010" cy="2038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rmAutofit lnSpcReduction="10000"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8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Do</a:t>
            </a: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: Choose one method to implement</a:t>
            </a:r>
          </a:p>
          <a:p>
            <a:pPr defTabSz="2438400">
              <a:spcBef>
                <a:spcPts val="2900"/>
              </a:spcBef>
              <a:buSzPct val="100000"/>
            </a:pPr>
            <a:r>
              <a:rPr lang="en-US" sz="28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Goal (tensor network example)</a:t>
            </a: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: </a:t>
            </a:r>
            <a:r>
              <a:rPr lang="en-CA" sz="2800" dirty="0"/>
              <a:t>Reduce a 2D network of local probability and check tensors down to a single four-element array with minimal truncation error, then apply the dominant logical correction. A decoding fidelity score can be calculated based on how accurately and quickly the state was protected.</a:t>
            </a:r>
            <a:endParaRPr lang="en-CA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33274BE-9652-BA0F-3D38-EA576F0F5FD4}"/>
              </a:ext>
            </a:extLst>
          </p:cNvPr>
          <p:cNvGrpSpPr/>
          <p:nvPr/>
        </p:nvGrpSpPr>
        <p:grpSpPr>
          <a:xfrm>
            <a:off x="7376" y="3834371"/>
            <a:ext cx="24387175" cy="5737412"/>
            <a:chOff x="7376" y="3834371"/>
            <a:chExt cx="24387175" cy="573741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09E9E22-4835-192C-FEF3-422D4CBD9A0B}"/>
                </a:ext>
              </a:extLst>
            </p:cNvPr>
            <p:cNvGrpSpPr/>
            <p:nvPr/>
          </p:nvGrpSpPr>
          <p:grpSpPr>
            <a:xfrm>
              <a:off x="7376" y="3834371"/>
              <a:ext cx="24387175" cy="5737412"/>
              <a:chOff x="7376" y="3834371"/>
              <a:chExt cx="24387175" cy="5737412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623FF4D-7449-264C-4708-011337A4190A}"/>
                  </a:ext>
                </a:extLst>
              </p:cNvPr>
              <p:cNvGrpSpPr/>
              <p:nvPr/>
            </p:nvGrpSpPr>
            <p:grpSpPr>
              <a:xfrm>
                <a:off x="7376" y="3834371"/>
                <a:ext cx="24387175" cy="5737412"/>
                <a:chOff x="7376" y="3834371"/>
                <a:chExt cx="24387175" cy="5737412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5953F1B-BEB1-EF3A-844B-0F7FEB9E46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76" y="3834371"/>
                  <a:ext cx="24387175" cy="5737412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wrap="square" lIns="91440" tIns="91440" rIns="91440" bIns="9144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IBM Plex Sans Light"/>
                    <a:buNone/>
                    <a:tabLst/>
                  </a:pPr>
                  <a:endParaRPr kumimoji="0" lang="en-CA" sz="1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+mn-lt"/>
                  </a:endParaRPr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D9218F24-116F-8D41-783D-FC55A89501FD}"/>
                    </a:ext>
                  </a:extLst>
                </p:cNvPr>
                <p:cNvGrpSpPr/>
                <p:nvPr/>
              </p:nvGrpSpPr>
              <p:grpSpPr>
                <a:xfrm>
                  <a:off x="1771585" y="4358700"/>
                  <a:ext cx="3958502" cy="4688753"/>
                  <a:chOff x="2673840" y="6804000"/>
                  <a:chExt cx="4488763" cy="5468053"/>
                </a:xfrm>
              </p:grpSpPr>
              <p:pic>
                <p:nvPicPr>
                  <p:cNvPr id="11" name="Picture 10">
                    <a:extLst>
                      <a:ext uri="{FF2B5EF4-FFF2-40B4-BE49-F238E27FC236}">
                        <a16:creationId xmlns:a16="http://schemas.microsoft.com/office/drawing/2014/main" id="{B10C181C-CA7C-FDAB-0DA6-02CC4634CB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rcRect l="13816" t="3433" r="13345" b="4406"/>
                  <a:stretch>
                    <a:fillRect/>
                  </a:stretch>
                </p:blipFill>
                <p:spPr>
                  <a:xfrm>
                    <a:off x="2808000" y="6804000"/>
                    <a:ext cx="4248000" cy="4284000"/>
                  </a:xfrm>
                  <a:prstGeom prst="rect">
                    <a:avLst/>
                  </a:prstGeom>
                </p:spPr>
              </p:pic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BC397C22-D1A1-8D04-ED71-11D475B59334}"/>
                      </a:ext>
                    </a:extLst>
                  </p:cNvPr>
                  <p:cNvSpPr txBox="1"/>
                  <p:nvPr/>
                </p:nvSpPr>
                <p:spPr>
                  <a:xfrm>
                    <a:off x="2673840" y="11357653"/>
                    <a:ext cx="4488763" cy="914400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wrap="none" lIns="0" tIns="0" rIns="0" bIns="0" rtlCol="0">
                    <a:noAutofit/>
                  </a:bodyPr>
                  <a:lstStyle/>
                  <a:p>
                    <a:pPr algn="ctr" defTabSz="2438400">
                      <a:spcBef>
                        <a:spcPts val="2900"/>
                      </a:spcBef>
                      <a:buSzPct val="100000"/>
                    </a:pPr>
                    <a:r>
                      <a:rPr lang="fr-CA" sz="2000" b="1" kern="0" dirty="0">
                        <a:solidFill>
                          <a:srgbClr val="000000"/>
                        </a:solidFill>
                        <a:ea typeface="+mj-ea"/>
                        <a:cs typeface="+mj-cs"/>
                        <a:sym typeface="IBM Plex Sans Light"/>
                      </a:rPr>
                      <a:t>Minimum-Weight Perfect Matching</a:t>
                    </a:r>
                  </a:p>
                </p:txBody>
              </p: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271D8578-EF05-D0C4-C4C3-033215A11499}"/>
                    </a:ext>
                  </a:extLst>
                </p:cNvPr>
                <p:cNvGrpSpPr/>
                <p:nvPr/>
              </p:nvGrpSpPr>
              <p:grpSpPr>
                <a:xfrm>
                  <a:off x="8713987" y="4407368"/>
                  <a:ext cx="4463524" cy="4248044"/>
                  <a:chOff x="8845407" y="6804000"/>
                  <a:chExt cx="5342965" cy="5032125"/>
                </a:xfrm>
              </p:grpSpPr>
              <p:pic>
                <p:nvPicPr>
                  <p:cNvPr id="15" name="Picture 14">
                    <a:extLst>
                      <a:ext uri="{FF2B5EF4-FFF2-40B4-BE49-F238E27FC236}">
                        <a16:creationId xmlns:a16="http://schemas.microsoft.com/office/drawing/2014/main" id="{1F7AFFA9-253F-D801-E013-9543EA1DEA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rcRect l="2326" t="937" r="4903" b="396"/>
                  <a:stretch>
                    <a:fillRect/>
                  </a:stretch>
                </p:blipFill>
                <p:spPr>
                  <a:xfrm>
                    <a:off x="9396000" y="6804000"/>
                    <a:ext cx="4068000" cy="4273393"/>
                  </a:xfrm>
                  <a:prstGeom prst="rect">
                    <a:avLst/>
                  </a:prstGeom>
                </p:spPr>
              </p:pic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D3F76E40-43CC-AE39-40E2-A465CAE29E45}"/>
                      </a:ext>
                    </a:extLst>
                  </p:cNvPr>
                  <p:cNvSpPr txBox="1"/>
                  <p:nvPr/>
                </p:nvSpPr>
                <p:spPr>
                  <a:xfrm>
                    <a:off x="8845407" y="11358000"/>
                    <a:ext cx="5342965" cy="478125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wrap="none" lIns="0" tIns="0" rIns="0" bIns="0" rtlCol="0">
                    <a:noAutofit/>
                  </a:bodyPr>
                  <a:lstStyle/>
                  <a:p>
                    <a:pPr algn="ctr" defTabSz="2438400">
                      <a:spcBef>
                        <a:spcPts val="2900"/>
                      </a:spcBef>
                      <a:buSzPct val="100000"/>
                    </a:pPr>
                    <a:r>
                      <a:rPr lang="fr-CA" sz="2000" b="1" kern="0" dirty="0">
                        <a:solidFill>
                          <a:srgbClr val="000000"/>
                        </a:solidFill>
                        <a:sym typeface="IBM Plex Sans Light"/>
                      </a:rPr>
                      <a:t>The Union-Find Decoder</a:t>
                    </a:r>
                  </a:p>
                </p:txBody>
              </p:sp>
            </p:grp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7EFA6C7-577D-50EC-E0DA-39370CA49EAE}"/>
                    </a:ext>
                  </a:extLst>
                </p:cNvPr>
                <p:cNvSpPr txBox="1"/>
                <p:nvPr/>
              </p:nvSpPr>
              <p:spPr>
                <a:xfrm>
                  <a:off x="16178576" y="8196461"/>
                  <a:ext cx="5378823" cy="997645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ctr" defTabSz="2438400">
                    <a:spcBef>
                      <a:spcPts val="2900"/>
                    </a:spcBef>
                    <a:buSzPct val="100000"/>
                  </a:pPr>
                  <a:r>
                    <a:rPr lang="en-US" sz="2000" b="1" kern="0" dirty="0">
                      <a:solidFill>
                        <a:srgbClr val="000000"/>
                      </a:solidFill>
                      <a:ea typeface="+mj-ea"/>
                      <a:cs typeface="+mj-cs"/>
                      <a:sym typeface="IBM Plex Sans Light"/>
                    </a:rPr>
                    <a:t>The Tensor Network</a:t>
                  </a:r>
                  <a:endParaRPr lang="en-CA" sz="2000" b="1" kern="0" dirty="0">
                    <a:solidFill>
                      <a:srgbClr val="000000"/>
                    </a:solidFill>
                    <a:ea typeface="+mj-ea"/>
                    <a:cs typeface="+mj-cs"/>
                    <a:sym typeface="IBM Plex Sans Light"/>
                  </a:endParaRPr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099DC98-B788-0AEE-72F7-935D575A9460}"/>
                  </a:ext>
                </a:extLst>
              </p:cNvPr>
              <p:cNvSpPr txBox="1"/>
              <p:nvPr/>
            </p:nvSpPr>
            <p:spPr>
              <a:xfrm>
                <a:off x="6090961" y="8963021"/>
                <a:ext cx="12205252" cy="400110"/>
              </a:xfrm>
              <a:prstGeom prst="rect">
                <a:avLst/>
              </a:prstGeom>
              <a:noFill/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CA" sz="2000" i="1" dirty="0"/>
                  <a:t>Source:</a:t>
                </a:r>
                <a:r>
                  <a:rPr lang="en-CA" sz="2000" dirty="0"/>
                  <a:t> Adapted from de Marti </a:t>
                </a:r>
                <a:r>
                  <a:rPr lang="en-CA" sz="2000" dirty="0" err="1"/>
                  <a:t>i</a:t>
                </a:r>
                <a:r>
                  <a:rPr lang="en-CA" sz="2000" dirty="0"/>
                  <a:t> </a:t>
                </a:r>
                <a:r>
                  <a:rPr lang="en-CA" sz="2000" dirty="0" err="1"/>
                  <a:t>Olius</a:t>
                </a:r>
                <a:r>
                  <a:rPr lang="en-CA" sz="2000" dirty="0"/>
                  <a:t> et al. (2024), </a:t>
                </a:r>
                <a:r>
                  <a:rPr lang="en-CA" sz="2000" i="1" dirty="0"/>
                  <a:t>Quantum</a:t>
                </a:r>
                <a:r>
                  <a:rPr lang="en-CA" sz="2000" dirty="0"/>
                  <a:t> 8, 1498.</a:t>
                </a:r>
              </a:p>
            </p:txBody>
          </p:sp>
        </p:grp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B3B5E2C-AB85-6003-421B-B620743C5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749526" y="4836978"/>
              <a:ext cx="8032648" cy="3061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C15C703-CF50-20E4-0026-8E12E0AE3950}"/>
              </a:ext>
            </a:extLst>
          </p:cNvPr>
          <p:cNvSpPr txBox="1"/>
          <p:nvPr/>
        </p:nvSpPr>
        <p:spPr>
          <a:xfrm>
            <a:off x="21369130" y="1133060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92574622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D1999C-ABEF-0A3B-FAD8-509790F38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9F15BD-496C-B686-CB5D-91B61BEE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544513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8CBD51-0BBD-B3CD-A05E-525E0E99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3131B8-AACF-B5F2-914D-AD22729845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/>
              <a:t>Qiskit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1123AB-0105-5B11-824F-6A19A37671F2}"/>
              </a:ext>
            </a:extLst>
          </p:cNvPr>
          <p:cNvSpPr txBox="1"/>
          <p:nvPr/>
        </p:nvSpPr>
        <p:spPr>
          <a:xfrm>
            <a:off x="7783286" y="5301342"/>
            <a:ext cx="14543314" cy="7130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AFDA8-DF7B-C0EC-BFCC-E49741E7A9F1}"/>
              </a:ext>
            </a:extLst>
          </p:cNvPr>
          <p:cNvSpPr txBox="1"/>
          <p:nvPr/>
        </p:nvSpPr>
        <p:spPr>
          <a:xfrm>
            <a:off x="576072" y="1846462"/>
            <a:ext cx="12786015" cy="720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just" defTabSz="2438400">
              <a:lnSpc>
                <a:spcPct val="150000"/>
              </a:lnSpc>
              <a:spcBef>
                <a:spcPts val="2900"/>
              </a:spcBef>
              <a:buSzPct val="100000"/>
            </a:pPr>
            <a:r>
              <a:rPr lang="en-US" sz="28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  <a:hlinkClick r:id="rId4"/>
              </a:rPr>
              <a:t>A Game of Surface Codes: Large-Scale Quantum Computing With Lattice Surgery</a:t>
            </a:r>
            <a:endParaRPr lang="en-CA" sz="2800" b="1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82A0197-17B0-8627-43E0-5D64BB453DB0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614086711"/>
              </p:ext>
            </p:extLst>
          </p:nvPr>
        </p:nvGraphicFramePr>
        <p:xfrm>
          <a:off x="733373" y="3243135"/>
          <a:ext cx="7049913" cy="47215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49971">
                  <a:extLst>
                    <a:ext uri="{9D8B030D-6E8A-4147-A177-3AD203B41FA5}">
                      <a16:colId xmlns:a16="http://schemas.microsoft.com/office/drawing/2014/main" val="4125404901"/>
                    </a:ext>
                  </a:extLst>
                </a:gridCol>
                <a:gridCol w="2349971">
                  <a:extLst>
                    <a:ext uri="{9D8B030D-6E8A-4147-A177-3AD203B41FA5}">
                      <a16:colId xmlns:a16="http://schemas.microsoft.com/office/drawing/2014/main" val="563962710"/>
                    </a:ext>
                  </a:extLst>
                </a:gridCol>
                <a:gridCol w="2349971">
                  <a:extLst>
                    <a:ext uri="{9D8B030D-6E8A-4147-A177-3AD203B41FA5}">
                      <a16:colId xmlns:a16="http://schemas.microsoft.com/office/drawing/2014/main" val="880375178"/>
                    </a:ext>
                  </a:extLst>
                </a:gridCol>
              </a:tblGrid>
              <a:tr h="236076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1722324"/>
                  </a:ext>
                </a:extLst>
              </a:tr>
              <a:tr h="2360765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744396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8180D6F-34B9-58B2-37B2-AE052DC356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986822" y="3483113"/>
            <a:ext cx="1816014" cy="1897742"/>
          </a:xfrm>
          <a:prstGeom prst="rect">
            <a:avLst/>
          </a:prstGeom>
          <a:solidFill>
            <a:schemeClr val="accent2"/>
          </a:solidFill>
          <a:ln w="7620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C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405A2CF-81B0-FAC0-AB07-518D29771A3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86822" y="3483112"/>
            <a:ext cx="1816014" cy="1897743"/>
            <a:chOff x="986822" y="3483112"/>
            <a:chExt cx="1816014" cy="189774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B7D6BEF-E785-D3FD-3EEB-B929D1B5594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>
              <a:off x="986822" y="3483113"/>
              <a:ext cx="181601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ACCEF9-52D6-DD15-53AD-5E057161CF6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>
              <a:off x="986822" y="5378646"/>
              <a:ext cx="1816014" cy="0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C2D9F04-FA4E-C908-ABE0-DE160B93454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>
              <a:off x="2802836" y="3483113"/>
              <a:ext cx="0" cy="1895533"/>
            </a:xfrm>
            <a:prstGeom prst="line">
              <a:avLst/>
            </a:prstGeom>
            <a:ln w="38100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52E379C-BE68-ED5A-A327-0FD029EE9FE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>
              <a:off x="986822" y="3483112"/>
              <a:ext cx="0" cy="1897743"/>
            </a:xfrm>
            <a:prstGeom prst="line">
              <a:avLst/>
            </a:prstGeom>
            <a:ln w="38100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54CC8CD-4203-DE7E-1863-77E209F2A63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443723" y="3454956"/>
            <a:ext cx="4177050" cy="4297887"/>
            <a:chOff x="11606782" y="5254959"/>
            <a:chExt cx="4177050" cy="429788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E71A8C4-BCDF-B57B-F24D-5C9447C9E6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1626660" y="5301342"/>
              <a:ext cx="4112364" cy="4251504"/>
              <a:chOff x="3379312" y="3501018"/>
              <a:chExt cx="4112364" cy="4251504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2862564-0B9F-E467-35BC-5452DD9902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675662" y="3501018"/>
                <a:ext cx="1816014" cy="4251504"/>
              </a:xfrm>
              <a:prstGeom prst="rect">
                <a:avLst/>
              </a:prstGeom>
              <a:solidFill>
                <a:schemeClr val="accent2"/>
              </a:solidFill>
              <a:ln w="76200">
                <a:solidFill>
                  <a:schemeClr val="accent2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CA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E0CA1E8-A066-0BAD-9330-38433BFE83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379312" y="5903844"/>
                <a:ext cx="4112364" cy="1845686"/>
              </a:xfrm>
              <a:prstGeom prst="rect">
                <a:avLst/>
              </a:prstGeom>
              <a:solidFill>
                <a:schemeClr val="accent2"/>
              </a:solidFill>
              <a:ln w="76200">
                <a:solidFill>
                  <a:schemeClr val="accent2"/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CA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FED7D12-CE90-0B2F-A8B0-5D9799F5BE8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flipV="1">
              <a:off x="13878201" y="5301342"/>
              <a:ext cx="0" cy="2402826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82776BB-ECDD-F494-F3D3-CFC79E7C95A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flipH="1">
              <a:off x="11606782" y="7684290"/>
              <a:ext cx="2251541" cy="0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011A703-C0EA-1ACA-194A-A249606A8D4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flipV="1">
              <a:off x="15739024" y="5254959"/>
              <a:ext cx="0" cy="4297887"/>
            </a:xfrm>
            <a:prstGeom prst="line">
              <a:avLst/>
            </a:prstGeom>
            <a:ln w="762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24A0812-97E3-0669-1C5C-B7E9EE160A0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flipH="1">
              <a:off x="13878201" y="5279256"/>
              <a:ext cx="1905631" cy="0"/>
            </a:xfrm>
            <a:prstGeom prst="line">
              <a:avLst/>
            </a:prstGeom>
            <a:ln w="76200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B6FB536-2BD8-EA71-303A-A5B6341EEA6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flipH="1">
              <a:off x="11606782" y="9549854"/>
              <a:ext cx="4177050" cy="0"/>
            </a:xfrm>
            <a:prstGeom prst="line">
              <a:avLst/>
            </a:prstGeom>
            <a:ln w="76200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D04F1EA-D075-8344-351A-6B10B3CE66E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 bwMode="auto">
            <a:xfrm flipV="1">
              <a:off x="11626660" y="7704168"/>
              <a:ext cx="0" cy="1842695"/>
            </a:xfrm>
            <a:prstGeom prst="line">
              <a:avLst/>
            </a:prstGeom>
            <a:ln w="76200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2AD7FD0-B71E-4940-6777-C5148D850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540135" y="3197042"/>
            <a:ext cx="726189" cy="66148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Z</a:t>
            </a:r>
            <a:endParaRPr kumimoji="0" lang="en-C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4B1C50E-368C-BE74-4926-A736AF4BBB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2427774" y="4041479"/>
            <a:ext cx="726189" cy="66148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lang="en-US" sz="2400" b="1" dirty="0">
                <a:solidFill>
                  <a:schemeClr val="tx1"/>
                </a:solidFill>
              </a:rPr>
              <a:t>X</a:t>
            </a:r>
            <a:endParaRPr kumimoji="0" lang="en-C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22A739F-8712-BB10-9E52-EF8781C2E3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508673" y="4959344"/>
            <a:ext cx="726189" cy="66148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Z</a:t>
            </a:r>
            <a:endParaRPr kumimoji="0" lang="en-C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1BAEC91D-2D70-D997-F7BB-8228950A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686524" y="4048159"/>
            <a:ext cx="726189" cy="66148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lang="en-US" sz="2400" b="1" dirty="0">
                <a:solidFill>
                  <a:schemeClr val="tx1"/>
                </a:solidFill>
              </a:rPr>
              <a:t>X</a:t>
            </a:r>
            <a:endParaRPr kumimoji="0" lang="en-C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271A2D5-8C34-2BE4-A177-520D515C28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6349671" y="3159552"/>
            <a:ext cx="726189" cy="66148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lang="en-US" sz="2400" b="1" dirty="0">
                <a:solidFill>
                  <a:schemeClr val="tx1"/>
                </a:solidFill>
              </a:rPr>
              <a:t>X</a:t>
            </a:r>
            <a:endParaRPr kumimoji="0" lang="en-C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864D72E-1086-9BC9-4182-DE8D6EC930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916521" y="5573420"/>
            <a:ext cx="726189" cy="66148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Z</a:t>
            </a:r>
            <a:endParaRPr kumimoji="0" lang="en-C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6AD600D-A9EE-CEBD-5F1F-36B08BD3A9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129529" y="5545162"/>
            <a:ext cx="726189" cy="66148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Z</a:t>
            </a:r>
            <a:endParaRPr kumimoji="0" lang="en-C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FDA0A1DA-E3EE-34AD-CE43-738057CDD8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892871" y="7386759"/>
            <a:ext cx="726189" cy="66148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lang="en-US" sz="2400" b="1" dirty="0">
                <a:solidFill>
                  <a:schemeClr val="tx1"/>
                </a:solidFill>
              </a:rPr>
              <a:t>X</a:t>
            </a:r>
            <a:endParaRPr kumimoji="0" lang="en-C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EA2F147-62D3-855D-A455-2C8CDED14905}"/>
              </a:ext>
            </a:extLst>
          </p:cNvPr>
          <p:cNvGrpSpPr/>
          <p:nvPr/>
        </p:nvGrpSpPr>
        <p:grpSpPr>
          <a:xfrm>
            <a:off x="733373" y="8637735"/>
            <a:ext cx="7049913" cy="953713"/>
            <a:chOff x="733373" y="8629574"/>
            <a:chExt cx="7049913" cy="1027724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B1B8C3A-B424-DC03-6599-4B208A60B585}"/>
                </a:ext>
              </a:extLst>
            </p:cNvPr>
            <p:cNvSpPr txBox="1"/>
            <p:nvPr/>
          </p:nvSpPr>
          <p:spPr>
            <a:xfrm>
              <a:off x="733373" y="8795886"/>
              <a:ext cx="7049913" cy="6614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rtlCol="0">
              <a:noAutofit/>
            </a:bodyPr>
            <a:lstStyle/>
            <a:p>
              <a:pPr algn="l" defTabSz="2438400">
                <a:spcBef>
                  <a:spcPts val="2900"/>
                </a:spcBef>
                <a:buSzPct val="100000"/>
              </a:pPr>
              <a:r>
                <a:rPr lang="en-US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Operation: Time cost</a:t>
              </a:r>
            </a:p>
            <a:p>
              <a:pPr marL="1486188" lvl="1" indent="-571500" defTabSz="2438400">
                <a:spcBef>
                  <a:spcPts val="29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28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Initialization has 0 time-cost</a:t>
              </a:r>
            </a:p>
            <a:p>
              <a:pPr marL="1486188" lvl="1" indent="-571500" defTabSz="2438400">
                <a:spcBef>
                  <a:spcPts val="2900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2800" kern="0" dirty="0">
                  <a:solidFill>
                    <a:srgbClr val="000000"/>
                  </a:solidFill>
                  <a:ea typeface="+mj-ea"/>
                  <a:cs typeface="+mj-cs"/>
                  <a:sym typeface="IBM Plex Sans Light"/>
                </a:rPr>
                <a:t>Measure may have 1 time-cost </a:t>
              </a:r>
              <a:endParaRPr lang="en-CA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endParaRPr>
            </a:p>
          </p:txBody>
        </p:sp>
        <p:sp>
          <p:nvSpPr>
            <p:cNvPr id="73" name="Dodecagon 72">
              <a:extLst>
                <a:ext uri="{FF2B5EF4-FFF2-40B4-BE49-F238E27FC236}">
                  <a16:creationId xmlns:a16="http://schemas.microsoft.com/office/drawing/2014/main" id="{13DE4D5A-42D3-5D85-9E05-4FB3FD8A6437}"/>
                </a:ext>
              </a:extLst>
            </p:cNvPr>
            <p:cNvSpPr/>
            <p:nvPr/>
          </p:nvSpPr>
          <p:spPr bwMode="auto">
            <a:xfrm>
              <a:off x="5435271" y="8629574"/>
              <a:ext cx="914400" cy="1027724"/>
            </a:xfrm>
            <a:prstGeom prst="dodecagon">
              <a:avLst/>
            </a:prstGeom>
            <a:solidFill>
              <a:schemeClr val="bg2">
                <a:lumMod val="95000"/>
              </a:schemeClr>
            </a:solidFill>
            <a:ln w="381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N</a:t>
              </a:r>
              <a:endParaRPr kumimoji="0" lang="en-CA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A7B29AC-4FFE-134E-5BA7-1C7E7BA1E832}"/>
              </a:ext>
            </a:extLst>
          </p:cNvPr>
          <p:cNvGrpSpPr/>
          <p:nvPr/>
        </p:nvGrpSpPr>
        <p:grpSpPr>
          <a:xfrm>
            <a:off x="9560189" y="3159552"/>
            <a:ext cx="5683542" cy="7914851"/>
            <a:chOff x="9560189" y="3159552"/>
            <a:chExt cx="5683542" cy="7914851"/>
          </a:xfrm>
        </p:grpSpPr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DC58CFF-6F2A-1D51-E546-A34D6737D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60189" y="3159552"/>
              <a:ext cx="5683542" cy="7321926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DF4AB3D-01B2-B277-2289-BCE24FB52C0E}"/>
                </a:ext>
              </a:extLst>
            </p:cNvPr>
            <p:cNvSpPr txBox="1"/>
            <p:nvPr/>
          </p:nvSpPr>
          <p:spPr>
            <a:xfrm>
              <a:off x="10782231" y="10669266"/>
              <a:ext cx="3260034" cy="40513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rtlCol="0">
              <a:noAutofit/>
            </a:bodyPr>
            <a:lstStyle/>
            <a:p>
              <a:pPr defTabSz="2438400">
                <a:spcBef>
                  <a:spcPts val="2900"/>
                </a:spcBef>
                <a:buSzPct val="100000"/>
              </a:pPr>
              <a:r>
                <a:rPr lang="en-CA" sz="2000" i="1" dirty="0"/>
                <a:t>Source:</a:t>
              </a:r>
              <a:r>
                <a:rPr lang="en-CA" sz="2000" dirty="0"/>
                <a:t> </a:t>
              </a:r>
              <a:r>
                <a:rPr lang="en-CA" sz="2000" dirty="0" err="1"/>
                <a:t>Litinski</a:t>
              </a:r>
              <a:r>
                <a:rPr lang="en-CA" sz="2000" dirty="0"/>
                <a:t> (2019), Fig. 2.</a:t>
              </a:r>
              <a:endParaRPr lang="en-CA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endParaRP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CF944D36-7041-9272-8D4A-49A645724335}"/>
              </a:ext>
            </a:extLst>
          </p:cNvPr>
          <p:cNvSpPr txBox="1"/>
          <p:nvPr/>
        </p:nvSpPr>
        <p:spPr>
          <a:xfrm>
            <a:off x="16343571" y="4114799"/>
            <a:ext cx="7056782" cy="7321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rm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32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Value</a:t>
            </a:r>
            <a:r>
              <a:rPr lang="en-US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: help understand space-time trade-offs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US" sz="32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Goal: </a:t>
            </a:r>
            <a:r>
              <a:rPr lang="en-US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space-efficient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US" sz="32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Possible Game Design Ideas</a:t>
            </a:r>
            <a:r>
              <a:rPr lang="en-US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:</a:t>
            </a:r>
          </a:p>
          <a:p>
            <a:pPr marL="457200" indent="-4572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CA" sz="3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For a  given surface code layout and time cost N, perform S number of operations in N time</a:t>
            </a:r>
          </a:p>
        </p:txBody>
      </p:sp>
    </p:spTree>
    <p:extLst>
      <p:ext uri="{BB962C8B-B14F-4D97-AF65-F5344CB8AC3E}">
        <p14:creationId xmlns:p14="http://schemas.microsoft.com/office/powerpoint/2010/main" val="280069814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64199F8-1D98-E223-F370-9E2AEE81F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B7E72D-2E58-5FA9-35AF-EA3BF67E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Outcomes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F3C48B13-D468-45C9-5E8D-1CC3FCDBC286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6A4A6-BFA6-4140-B1ED-1F00BB0D2D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sz="4000" b="1" dirty="0"/>
              <a:t>Distinguish Between Error Correction and Error Mitigation</a:t>
            </a:r>
            <a:endParaRPr lang="en-US" dirty="0"/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6B527F30-F60A-AA2B-370A-41F9EF0116AE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EDFC4-C9C9-2112-4D9D-362541F55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br>
              <a:rPr lang="en-US" dirty="0"/>
            </a:br>
            <a:r>
              <a:rPr lang="en-US" sz="4000" b="1" dirty="0"/>
              <a:t>Break Down The Main Theories of Quantum Error Correction</a:t>
            </a:r>
          </a:p>
          <a:p>
            <a:r>
              <a:rPr lang="en-US" sz="4000" b="1" dirty="0"/>
              <a:t>(i.e. qLDPC, surface code, color code)</a:t>
            </a:r>
            <a:endParaRPr lang="en-US" dirty="0"/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79B6307B-3FFE-4197-344B-4318A0921143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D3721-3096-C555-ADE3-C6C024CF3F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sz="4000" b="1" dirty="0"/>
              <a:t>Understand What Makes Practical Quantum Computing Difficult</a:t>
            </a:r>
            <a:endParaRPr lang="en-US" dirty="0"/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79653C59-D4EB-061B-BEE9-54F43A1A5BD7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0DC560-FF7F-9500-14CC-65574A232B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sz="4000" b="1" dirty="0"/>
              <a:t>Build and Innovate on Top of Existing Methods</a:t>
            </a:r>
            <a:endParaRPr lang="en-US" sz="20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5069CF-12C8-5065-5D51-A2D4F896DB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/>
              <a:t>Qiskit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FB0B5-B9D5-F5EB-979F-83A44D39B520}"/>
              </a:ext>
            </a:extLst>
          </p:cNvPr>
          <p:cNvSpPr txBox="1"/>
          <p:nvPr/>
        </p:nvSpPr>
        <p:spPr>
          <a:xfrm>
            <a:off x="4110075" y="3188774"/>
            <a:ext cx="15033172" cy="1071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CA" sz="4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What is fault tolerance, and what will we need to achieve it?</a:t>
            </a:r>
          </a:p>
        </p:txBody>
      </p:sp>
    </p:spTree>
    <p:extLst>
      <p:ext uri="{BB962C8B-B14F-4D97-AF65-F5344CB8AC3E}">
        <p14:creationId xmlns:p14="http://schemas.microsoft.com/office/powerpoint/2010/main" val="252274674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1B954-ACBD-03FB-D849-0B0F1366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1B8D388-9517-096F-02DC-802699377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7F9F12-E99F-5FB4-3E86-FD82CAC9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Criteria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F966B65A-F379-3EBD-2F15-1CC0CF4B08DE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E71D2-7326-507C-4608-5F3C3F94A3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EE5396"/>
                </a:solidFill>
              </a:rPr>
              <a:t>Qiskit - 10%</a:t>
            </a:r>
          </a:p>
          <a:p>
            <a:br>
              <a:rPr lang="en-US" dirty="0"/>
            </a:br>
            <a:r>
              <a:rPr lang="en-US" sz="4000" b="1" dirty="0"/>
              <a:t>How did the participants integrate Qiskit in their project? (e.g. Add-ons used)</a:t>
            </a:r>
            <a:endParaRPr lang="en-US" dirty="0"/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C4F97DCE-E81F-E226-30C6-44D1E5B582E6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B7903-D6DC-D0FE-88F5-0377EF4DB0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EE5396"/>
                </a:solidFill>
              </a:rPr>
              <a:t>Methods – 20%</a:t>
            </a:r>
          </a:p>
          <a:p>
            <a:br>
              <a:rPr lang="en-US" dirty="0"/>
            </a:br>
            <a:r>
              <a:rPr lang="en-US" sz="4000" b="1" dirty="0"/>
              <a:t>Is it creative and accurately incorporating QEC elements? </a:t>
            </a:r>
            <a:endParaRPr lang="en-US" dirty="0"/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8A2CA667-68F7-F8D7-EB7D-3C6E548A1143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9AE1B-20A6-9FF2-4270-385A5A82DB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EE5396"/>
                </a:solidFill>
              </a:rPr>
              <a:t>Effect – 30%</a:t>
            </a:r>
          </a:p>
          <a:p>
            <a:br>
              <a:rPr lang="en-US" dirty="0"/>
            </a:br>
            <a:r>
              <a:rPr lang="en-US" sz="4000" b="1" dirty="0"/>
              <a:t>Does it provide conceptual breakthroughs and further insights?</a:t>
            </a:r>
            <a:endParaRPr lang="en-US" dirty="0"/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81F4E161-3803-5743-F055-769F824A9C84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DF3100-2BA1-2637-30AB-75B6126959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EE5396"/>
                </a:solidFill>
              </a:rPr>
              <a:t>Presentation – 40%</a:t>
            </a:r>
          </a:p>
          <a:p>
            <a:br>
              <a:rPr lang="en-US" b="1" dirty="0"/>
            </a:br>
            <a:r>
              <a:rPr lang="en-US" sz="4000" b="1" dirty="0"/>
              <a:t>Can the participants explain their methods succinctly and justify their design choice?</a:t>
            </a:r>
            <a:endParaRPr lang="en-US" sz="2000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F905DAD-F4CF-F3ED-A93B-B0492F40A8B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/>
              <a:t>Qiskit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39323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313E-62BB-5C4E-B030-8EC24A56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189BA4-55DB-C828-2169-478D78C78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113442"/>
            <a:ext cx="1885073" cy="18850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F8FEC7-73F9-103B-5CF2-A4B8348A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7742367" cy="4573587"/>
          </a:xfrm>
        </p:spPr>
        <p:txBody>
          <a:bodyPr/>
          <a:lstStyle/>
          <a:p>
            <a:r>
              <a:rPr lang="en-US" dirty="0"/>
              <a:t>Notebook 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B0C9E-7F63-5F3A-59F7-9E88F4F66D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5548512" y="3243008"/>
            <a:ext cx="5539853" cy="1525587"/>
          </a:xfrm>
        </p:spPr>
        <p:txBody>
          <a:bodyPr/>
          <a:lstStyle/>
          <a:p>
            <a:pPr algn="ctr"/>
            <a:r>
              <a:rPr lang="en-US" dirty="0"/>
              <a:t>Qiskit Global Summer School 2025</a:t>
            </a:r>
          </a:p>
          <a:p>
            <a:pPr algn="ctr"/>
            <a:r>
              <a:rPr lang="en-US" dirty="0">
                <a:hlinkClick r:id="rId3"/>
              </a:rPr>
              <a:t>Lab 4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A7607-6F94-597E-57DE-3D074BB1EF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55790" y="9089879"/>
            <a:ext cx="5925295" cy="1525587"/>
          </a:xfrm>
        </p:spPr>
        <p:txBody>
          <a:bodyPr/>
          <a:lstStyle/>
          <a:p>
            <a:pPr algn="ctr"/>
            <a:r>
              <a:rPr lang="en-US" dirty="0"/>
              <a:t>Qiskit Global Summer School 2026</a:t>
            </a:r>
          </a:p>
          <a:p>
            <a:pPr algn="ctr"/>
            <a:r>
              <a:rPr lang="en-US" dirty="0">
                <a:hlinkClick r:id="rId4"/>
              </a:rPr>
              <a:t>Lab 3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7FBC62-91FA-3F01-8646-B69D6D58017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/>
              <a:t>Qiskit Fall Fest 202</a:t>
            </a:r>
            <a:r>
              <a:rPr lang="en-US" altLang="ko-KR" dirty="0"/>
              <a:t>6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2C0F32-8520-6620-DEF7-225042BDA7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rcRect l="4911" r="1793" b="24183"/>
          <a:stretch>
            <a:fillRect/>
          </a:stretch>
        </p:blipFill>
        <p:spPr>
          <a:xfrm>
            <a:off x="12924000" y="7557256"/>
            <a:ext cx="9468000" cy="45720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8996BB-0FC5-1570-52C7-6940A2EBEA8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5548512" y="6648450"/>
            <a:ext cx="17025738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0966BC49-BCE3-C924-7781-AFFA517979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rcRect l="3923" t="-3" r="-333" b="29367"/>
          <a:stretch>
            <a:fillRect/>
          </a:stretch>
        </p:blipFill>
        <p:spPr>
          <a:xfrm>
            <a:off x="13068000" y="881132"/>
            <a:ext cx="9540000" cy="485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4213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6FDF19-C253-A6D4-F7D8-4F2CF4499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113442"/>
            <a:ext cx="1885073" cy="18850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CEF21C-27B5-5BD7-B916-D2EA3686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C7A0B03C-A3AA-C4D2-5893-87ECE9BC2517}"/>
              </a:ext>
            </a:extLst>
          </p:cNvPr>
          <p:cNvCxnSpPr/>
          <p:nvPr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36602-67CE-96C1-8874-219512AB48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The Theories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576C3-E5F3-E003-50F0-F52E5B1339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b="1" dirty="0"/>
              <a:t>Start with these:</a:t>
            </a:r>
            <a:endParaRPr lang="en-US" b="1" dirty="0">
              <a:hlinkClick r:id="rId3"/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hlinkClick r:id="rId3"/>
              </a:rPr>
              <a:t>Foundation of Error Correction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>
                <a:hlinkClick r:id="rId4" action="ppaction://hlinkfile"/>
              </a:rPr>
              <a:t>Error Mitigation and Suppression Techniques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>
                <a:hlinkClick r:id="rId5"/>
              </a:rPr>
              <a:t>What is fault-tolerant quantum computing</a:t>
            </a:r>
            <a:endParaRPr lang="en-US" dirty="0"/>
          </a:p>
          <a:p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>
                <a:hlinkClick r:id="rId6"/>
              </a:rPr>
              <a:t>What’s the difference between error suppression, error mitigation and error correction?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>
                <a:hlinkClick r:id="rId7"/>
              </a:rPr>
              <a:t>Introducing Lattice Surgery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>
                <a:hlinkClick r:id="rId8"/>
              </a:rPr>
              <a:t>Low-overhead error detection with spacetime codes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>
                <a:hlinkClick r:id="rId9"/>
              </a:rPr>
              <a:t>Quantum low-density parity-check (qLDPC) codes for quantum error correction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>
                <a:hlinkClick r:id="rId10"/>
              </a:rPr>
              <a:t>Qiskit </a:t>
            </a:r>
            <a:r>
              <a:rPr lang="en-US" dirty="0" err="1">
                <a:hlinkClick r:id="rId10"/>
              </a:rPr>
              <a:t>Paulice</a:t>
            </a:r>
            <a:endParaRPr lang="en-US" dirty="0"/>
          </a:p>
          <a:p>
            <a:endParaRPr lang="en-US" dirty="0"/>
          </a:p>
        </p:txBody>
      </p:sp>
      <p:cxnSp>
        <p:nvCxnSpPr>
          <p:cNvPr id="10" name="Straight Connector 9" descr="Vertical column divider">
            <a:extLst>
              <a:ext uri="{FF2B5EF4-FFF2-40B4-BE49-F238E27FC236}">
                <a16:creationId xmlns:a16="http://schemas.microsoft.com/office/drawing/2014/main" id="{E009C93B-1E91-2729-0D6D-102D69C3BF88}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CCCE-DF39-3BAB-0F35-D743DD761B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Example Papers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1C034C-3694-08F0-0CDE-191D431A51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CA" dirty="0">
                <a:hlinkClick r:id="rId11"/>
              </a:rPr>
              <a:t>Realizing repeated quantum error correction in a distance-three surface code</a:t>
            </a:r>
            <a:endParaRPr lang="en-CA" dirty="0"/>
          </a:p>
          <a:p>
            <a:pPr marL="342900" indent="-342900">
              <a:buFontTx/>
              <a:buChar char="-"/>
            </a:pPr>
            <a:r>
              <a:rPr lang="en-CA" dirty="0" err="1">
                <a:hlinkClick r:id="rId12"/>
              </a:rPr>
              <a:t>sneakyweasel</a:t>
            </a:r>
            <a:r>
              <a:rPr lang="en-CA" dirty="0">
                <a:hlinkClick r:id="rId12"/>
              </a:rPr>
              <a:t>/genetic-quantum-correction</a:t>
            </a:r>
            <a:endParaRPr lang="en-CA" dirty="0"/>
          </a:p>
          <a:p>
            <a:pPr marL="342900" indent="-342900">
              <a:buFontTx/>
              <a:buChar char="-"/>
            </a:pPr>
            <a:r>
              <a:rPr lang="en-CA" dirty="0">
                <a:hlinkClick r:id="rId13"/>
              </a:rPr>
              <a:t>Quantum error correction below the surface code threshold</a:t>
            </a:r>
            <a:endParaRPr lang="en-CA" dirty="0"/>
          </a:p>
          <a:p>
            <a:pPr marL="342900" indent="-342900">
              <a:buFontTx/>
              <a:buChar char="-"/>
            </a:pPr>
            <a:r>
              <a:rPr lang="en-CA" dirty="0">
                <a:hlinkClick r:id="rId14"/>
              </a:rPr>
              <a:t>Game-theoretic discovery of quantum error-correcting codes through Nash equilibria</a:t>
            </a:r>
            <a:endParaRPr lang="en-CA" dirty="0"/>
          </a:p>
          <a:p>
            <a:pPr marL="342900" indent="-342900">
              <a:buFontTx/>
              <a:buChar char="-"/>
            </a:pPr>
            <a:r>
              <a:rPr lang="en-CA" dirty="0">
                <a:hlinkClick r:id="rId15" action="ppaction://hlinkfile"/>
              </a:rPr>
              <a:t>Quantum Poker A game for quantum computers suitable for benchmarking error mitigation techniques on NISQ devices</a:t>
            </a:r>
            <a:endParaRPr lang="en-CA" dirty="0"/>
          </a:p>
          <a:p>
            <a:pPr marL="342900" indent="-342900">
              <a:buFontTx/>
              <a:buChar char="-"/>
            </a:pPr>
            <a:r>
              <a:rPr lang="en-CA" dirty="0">
                <a:hlinkClick r:id="rId16"/>
              </a:rPr>
              <a:t>Game of surface codes</a:t>
            </a:r>
            <a:endParaRPr lang="en-CA" dirty="0"/>
          </a:p>
          <a:p>
            <a:pPr marL="342900" indent="-342900">
              <a:buFontTx/>
              <a:buChar char="-"/>
            </a:pPr>
            <a:r>
              <a:rPr lang="en-CA" dirty="0">
                <a:hlinkClick r:id="rId17"/>
              </a:rPr>
              <a:t>Researchers demonstrate quantum advantage through trusted quantum computation</a:t>
            </a:r>
            <a:endParaRPr lang="en-CA" dirty="0"/>
          </a:p>
          <a:p>
            <a:pPr marL="342900" indent="-342900">
              <a:buFontTx/>
              <a:buChar char="-"/>
            </a:pPr>
            <a:r>
              <a:rPr lang="en-CA" dirty="0">
                <a:hlinkClick r:id="rId18"/>
              </a:rPr>
              <a:t>Sampling hard circuits with verifiably high fidelity</a:t>
            </a:r>
            <a:endParaRPr lang="en-CA" dirty="0"/>
          </a:p>
          <a:p>
            <a:pPr marL="342900" indent="-342900">
              <a:buFontTx/>
              <a:buChar char="-"/>
            </a:pPr>
            <a:r>
              <a:rPr lang="en-CA" dirty="0">
                <a:hlinkClick r:id="rId19"/>
              </a:rPr>
              <a:t>Error correction zoo</a:t>
            </a:r>
            <a:endParaRPr lang="en-CA" dirty="0"/>
          </a:p>
          <a:p>
            <a:pPr marL="342900" indent="-342900">
              <a:buFontTx/>
              <a:buChar char="-"/>
            </a:pPr>
            <a:r>
              <a:rPr lang="en-CA" dirty="0">
                <a:hlinkClick r:id="rId20"/>
              </a:rPr>
              <a:t>Review on the decoding algorithms for surface codes</a:t>
            </a:r>
            <a:endParaRPr lang="en-CA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F77BD6-8F53-AFCC-B005-6A5E46C3BA6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/>
              <a:t>Qiskit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898928-34D8-4BDF-B40B-D51A61DFE86C}"/>
              </a:ext>
            </a:extLst>
          </p:cNvPr>
          <p:cNvSpPr txBox="1"/>
          <p:nvPr/>
        </p:nvSpPr>
        <p:spPr>
          <a:xfrm>
            <a:off x="1328057" y="3080657"/>
            <a:ext cx="8708572" cy="631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Here are more resources for inspiration and background.</a:t>
            </a: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63766102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44FA-7664-9F55-24D9-9B7FF239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25DD2B-1DA8-4882-BB6B-410ADDA308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697077"/>
                </a:solidFill>
                <a:latin typeface="IBM Plex Mono" panose="020B0509050203000203" pitchFamily="49" charset="77"/>
              </a:rPr>
              <a:t>Qiskit Fall Fest 202</a:t>
            </a:r>
            <a:r>
              <a:rPr lang="en-US" altLang="ko-KR" dirty="0">
                <a:solidFill>
                  <a:srgbClr val="697077"/>
                </a:solidFill>
                <a:latin typeface="IBM Plex Mono" panose="020B0509050203000203" pitchFamily="49" charset="77"/>
              </a:rPr>
              <a:t>6</a:t>
            </a:r>
            <a:endParaRPr lang="en-US" dirty="0">
              <a:solidFill>
                <a:srgbClr val="697077"/>
              </a:solidFill>
              <a:latin typeface="IBM Plex Mono" panose="020B0509050203000203" pitchFamily="49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DAC0BA-21CA-F1F0-566F-109AF564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6000" dirty="0">
                <a:solidFill>
                  <a:schemeClr val="tx1"/>
                </a:solidFill>
              </a:rPr>
            </a:br>
            <a:br>
              <a:rPr lang="en-US" sz="6000" dirty="0">
                <a:solidFill>
                  <a:schemeClr val="tx1"/>
                </a:solidFill>
              </a:rPr>
            </a:br>
            <a:br>
              <a:rPr lang="en-US" sz="6000" dirty="0">
                <a:solidFill>
                  <a:schemeClr val="tx1"/>
                </a:solidFill>
              </a:rPr>
            </a:br>
            <a:r>
              <a:rPr lang="en-US" sz="6000" dirty="0">
                <a:solidFill>
                  <a:schemeClr val="tx1"/>
                </a:solidFill>
              </a:rPr>
              <a:t>Thank You!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0F949CF-A6CC-97DB-DB16-9D8A46F7E777}"/>
              </a:ext>
            </a:extLst>
          </p:cNvPr>
          <p:cNvSpPr txBox="1">
            <a:spLocks/>
          </p:cNvSpPr>
          <p:nvPr/>
        </p:nvSpPr>
        <p:spPr>
          <a:xfrm>
            <a:off x="568325" y="6858000"/>
            <a:ext cx="5571218" cy="122251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effectLst/>
                <a:latin typeface="IBM Plex Sans Light" panose="020B0403050203000203" pitchFamily="34" charset="0"/>
              </a:rPr>
              <a:t>Wenyu Sun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r>
              <a:rPr lang="en-US" sz="2800" dirty="0">
                <a:effectLst/>
                <a:latin typeface="IBM Plex Sans Light" panose="020B0403050203000203" pitchFamily="34" charset="0"/>
              </a:rPr>
              <a:t>Third-year Undergraduate Physics</a:t>
            </a:r>
            <a:br>
              <a:rPr lang="en-US" sz="2800" dirty="0">
                <a:effectLst/>
                <a:latin typeface="+mj-lt"/>
              </a:rPr>
            </a:br>
            <a:r>
              <a:rPr lang="en-US" sz="2800" dirty="0">
                <a:effectLst/>
                <a:latin typeface="+mj-lt"/>
              </a:rPr>
              <a:t>McGill University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E6B07E-E5A4-15B2-2426-9451E6342B8A}"/>
              </a:ext>
            </a:extLst>
          </p:cNvPr>
          <p:cNvSpPr txBox="1"/>
          <p:nvPr/>
        </p:nvSpPr>
        <p:spPr>
          <a:xfrm>
            <a:off x="22983568" y="-321276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4D28B9-DEDF-36CB-A700-A39B744AF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3708" y="706779"/>
            <a:ext cx="9897395" cy="121408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7DAD83-6BF0-F4D4-AFE8-4AFA946A5085}"/>
              </a:ext>
            </a:extLst>
          </p:cNvPr>
          <p:cNvSpPr txBox="1"/>
          <p:nvPr/>
        </p:nvSpPr>
        <p:spPr>
          <a:xfrm>
            <a:off x="27679135" y="415187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9E89A-E5E9-435C-955A-DA250436E0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73" y="12377660"/>
            <a:ext cx="2178162" cy="9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964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Quantum_Presentation_Template_Plex_Embed" id="{E751D091-48B7-B947-A3EB-61D5938A941E}" vid="{BBD60A32-9C2D-5B41-BB36-F4AA98EC1F0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5637</TotalTime>
  <Words>2516</Words>
  <Application>Microsoft Macintosh PowerPoint</Application>
  <PresentationFormat>Custom</PresentationFormat>
  <Paragraphs>317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Cambria Math</vt:lpstr>
      <vt:lpstr>IBM Plex Mono</vt:lpstr>
      <vt:lpstr>IBM Plex Sans</vt:lpstr>
      <vt:lpstr>IBM Plex Sans ExtLt</vt:lpstr>
      <vt:lpstr>IBM Plex Sans Light</vt:lpstr>
      <vt:lpstr>IBM presentation template</vt:lpstr>
      <vt:lpstr>QFF 2026 Hackathon: Gamifying Error Detection, Mitigation and Correction</vt:lpstr>
      <vt:lpstr>Motivation</vt:lpstr>
      <vt:lpstr>A Brief Historical Summary</vt:lpstr>
      <vt:lpstr>The Main Tracks</vt:lpstr>
      <vt:lpstr>Error Detection Track</vt:lpstr>
      <vt:lpstr>Error Mitigation Track</vt:lpstr>
      <vt:lpstr>Error Correction Track</vt:lpstr>
      <vt:lpstr>Examples</vt:lpstr>
      <vt:lpstr>Project Outcomes</vt:lpstr>
      <vt:lpstr>Grading Criteria</vt:lpstr>
      <vt:lpstr>Notebook Resources</vt:lpstr>
      <vt:lpstr>Additional Resources  </vt:lpstr>
      <vt:lpstr>   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Templates  Sample layouts</dc:title>
  <dc:subject/>
  <dc:creator>NATALIE TAYLOR</dc:creator>
  <cp:keywords/>
  <dc:description/>
  <cp:lastModifiedBy>Serena Godwin</cp:lastModifiedBy>
  <cp:revision>35</cp:revision>
  <cp:lastPrinted>2019-04-25T15:14:05Z</cp:lastPrinted>
  <dcterms:created xsi:type="dcterms:W3CDTF">2024-04-30T19:03:56Z</dcterms:created>
  <dcterms:modified xsi:type="dcterms:W3CDTF">2026-09-22T17:37:34Z</dcterms:modified>
  <cp:category/>
</cp:coreProperties>
</file>